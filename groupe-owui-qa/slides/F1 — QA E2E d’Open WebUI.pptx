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6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4163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présentons le sujet F1 : la qualité de bout en bout d’Open WebUI. L’idée : écrire des tests automatisés qui pilotent un vrai navigateur, comme un utilisateur, pour vérifier le chat, le RAG, les outils et l’isolation entre deux instances. Le tout sans GPU ni API payante, grâce à un LLM simulé.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Open WebUI est une interface de chat pour LLM, avec RAG, outils et gestion des utilisateurs. On veut vérifier automatiquement, de bout en bout, que ce qu’un utilisateur voit et ce à quoi il a accès est correct. E2E veut dire « end-to-end » : on teste l’application entière, du navigateur jusqu’au backend. Trois difficultés rendent ça non trivial. Un : un vrai LLM ne répond jamais deux fois pareil ; si un test échoue, on ne sait pas si c’est l’application ou le modèle. Notre réponse : un mock déterministe. Deux : les réponses arrivent en streaming ; un test qui lit trop tôt voit un texte tronqué et devient instable, ce qu’on appelle « flaky ». Notre réponse : une attente conditionnelle, comparée à une baseline naïve. Trois : en multi-tenant, plusieurs clients partagent le même logiciel ; une fuite de données entre eux est grave et invisible à l’œil. Notre réponse : des tests d’isolation dédiés. À droite, les attendus du sujet, sur lesquels on fait le bilan à la fin.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schéma se lit de haut en bas. En haut, Playwright pilote un navigateur Chromium et appelle aussi l’API, en HTTP, vers les deux instances. Au milieu, deux instances Open WebUI identiques, version figée à v0.11.4 : le tenant A sur le port 3000, le tenant B sur le port 3001. Chacune a son propre volume de données et sa propre clé secrète ; la ligne pointillée rouge rappelle qu’aucune donnée n’est partagée entre elles. En bas, le seul composant commun : le mock LLM, un petit serveur Node.js qui parle le format de l’API OpenAI, et qui sert le chat, les embeddings du RAG et les appels d’outils. Il ne stocke aucune donnée des tenants. On a aussi coupé les tâches de fond d’Open WebUI (génération de titres, de tags…) pour éviter des appels modèle parasites. Attention à la formulation : c’est une simulation locale de l’isolation, pas un audit de sécurité de production. Question possible : « pourquoi deux instances et pas deux organisations dans une seule ? » Deux instances séparées donnent l’isolation la plus nette, et on teste aussi l’isolation entre utilisateurs d’une même instance.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sujet proposait les réponses mockées comme plan B. On en a fait la configuration par défaut, parce qu’un vrai LLM répond différemment à chaque fois : un test qui échoue ne dirait plus rien. Le schéma se lit de gauche à droite : Open WebUI relaie la requête du test au mock ; le mock lit une directive cachée entre doubles crochets et choisit l’une des quatre réponses. Sans directive, il renvoie l’écho de la question, mot à mot, en streaming. Avec [[mock:error]], il répond HTTP 500 pour tester l’affichage d’une panne. Pour le RAG, Open WebUI injecte les passages trouvés dans le prompt avec des balises source ; le mock les détecte et répond « MOCK-RAG » avec le nombre de sources, ce qui prouve que le contexte a bien été injecté. Avec [[mock:tool=ID]], il déclenche un appel d’outil et garde un reçu. Il sait aussi simuler un débit irrégulier et une latence, et il sert les embeddings. Question possible : « vous ne testez donc pas un vrai modèle ? » Exact, et c’est voulu : on teste l’intégration de l’application, pas la qualité du modèle. C’est noté dans les limites.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schéma reprend l’anatomie classique d’un test : préparation, exécution, vérification, nettoyage. À gauche, les quatre phases d’un test Playwright. 1, création : les fixtures préparent les données via l’API, avec un nom unique. Une fixture Playwright, c’est un objet préparé avant le test et rangé après ; le test le demande simplement en paramètre, par exemple « knowledgeBase ». 2, exécution : le test pilote Open WebUI, par l’interface ou par l’API. Au centre, Open WebUI est le système testé ; il interagit avec le mock LLM, le composant dont il dépend. 3, vérification : on compare le résultat réel à la valeur attendue. 4, nettoyage automatique : les utilisateurs, bases RAG, fichiers et outils temporaires sont supprimés dans des blocs finally, même si une assertion échoue. Nos fixtures : tenantA et tenantB, tempUser, knowledgeBase et qaTool. Soyons précis sur la limite : les tests de persistance et d’outil suppriment leurs conversations, mais d’autres scénarios de chat, d’erreur et la baseline peuvent laisser des conversations de test dans les volumes Docker. Ça n’influence pas les résultats, car chaque test utilise des identifiants uniques. Dernier point : le setup se connecte une seule fois et sauvegarde la session dans .auth/, ignoré par Git.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MVP demandait dix tests ; on a seize scénarios fonctionnels, plus un setup d’authentification, soit 17 tests au total dans npm test. Chaque parcours mélange cas nominal et cas d’erreur : un mauvais mot de passe, une panne du modèle, un jeton refusé, un accès admin refusé. Pour les tests d’isolation et de rôles, on vérifie aussi le témoin positif : la même requête passe pour l’admin, ce qui prouve que le refus vient bien du rôle et pas d’une URL cassée. Si on vous demande lequel est le plus important : l’isolation, c’est le cœur du multi-tenant.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piège d’un test E2E, c’est de vérifier seulement le texte affiché. Chaque colonne se lit de haut en bas, et la case foncée est la preuve finale. Streaming : un marqueur unique est le dernier mot streamé ; le voir en entier prouve que la réponse est finie, pas tronquée. En complément, un test de persistance relit la conversation via l’API. RAG : la base est jointe depuis le chat, Open WebUI injecte le contexte, le mock répond MOCK-RAG, et on exige le bouton « Voir la source » avec le nom du fichier ; un autre test contrôle aussi le champ sources renvoyé par l’API. Outil : un modèle pourrait écrire « l’outil a été exécuté » sans l’avoir fait. Donc notre outil de test envoie un reçu au mock, avec un identifiant propre au run, et le test vérifie ce reçu séparément : exactement un appel.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explique la méthode. Ici le mock streame environ 25 mots avec un délai aléatoire entre chaque, comme un vrai LLM. Première ligne, la baseline : elle reprend le helper chat() du cours, qui attend les premiers caractères, patiente 500 millisecondes, puis lit le texte une seule fois. À ce moment-là le streaming n’est pas fini, donc le texte lu est incomplet. Important : ses 10 échecs sur 10 ne sont pas des échecs aléatoires. La baseline est volontairement fragile, elle échoue par construction ; elle sert de témoin et elle est exclue de npm test. Deuxième ligne, notre version : l’assertion toContainText de Playwright réessaie automatiquement jusqu’à ce que le texte complet soit là, avec 30 secondes maximum. Résultat 10 sur 10. Les barres sont une illustration du principe, pas une mesure exacte du nombre de mots lus. Question possible : « pourquoi ne pas juste augmenter le délai ? » Parce qu’un délai fixe est soit trop court, donc fragile, soit trop long, donc lent ; l’attente conditionnelle est la bonne pratique.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mesures différentes, à ne pas confondre. D’abord npm test : 17 tests sur 17 réussis en 36 secondes, soit le setup d’authentification plus les 16 scénarios fonctionnels. Ensuite la campagne de stabilité : le script flakiness.mjs lance dix fois la suite principale et la baseline, sans retry, car un retry masquerait justement l’instabilité. Les barres montrent les dix runs : à chaque fois les 16 scénarios passent, d’où 160 sur 160, avec 0 échec et 0 test ignoré. La baseline est comptée à part et échoue 10 sur 10, comme prévu. Un cycle complet dure 44,2 secondes en moyenne, baseline comprise. On reste honnêtes sur la traçabilité : le rapport note le commit de base, mais l’arbre de travail était modifié au lancement, donc ce SHA ne décrit pas à lui seul le code testé. Question possible : « dix runs, c’est suffisant ? » C’est l’exigence du sujet ; ça détecte une instabilité fréquente, pas un échec rare à 1 %. Plus de runs, ou --repeat-each, renforceraient la mesure.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schéma se lit de haut en bas, comme un pipeline de tests classique. Un git push déclenche GitHub Actions, qui lit le fichier YAML du workflow. Le job fait ensuite le checkout du dépôt, installe Node.js 22 et crée un .env temporaire avec des comptes jetables et un mot de passe aléatoire, donc aucun secret stocké. Il démarre les deux tenants et le mock avec Docker Compose, installe les dépendances et Chromium, crée les comptes admin avec le seed, puis lance npm test. Le losange est le verdict : en cas d’échec, les logs des conteneurs sont affichés ; dans tous les cas, le rapport, les traces et les captures sont publiés comme artifacts. Différence importante avec un pipeline CI/CD classique : il n’y a aucun déploiement, notre pipeline s’arrête aux rapports, puisqu’on teste et qu’on ne met rien en production. Et on est transparents : le fichier groupe-owui-qa/ci/e2e.yml existe, mais aucune exécution GitHub Actions n’est confirmée. GitHub ne lit que le dossier .github/workflows à la racine, que la charte du cours nous interdit de modifier ; une personne autorisée doit y copier le fichier sur le fork. Question possible : « comment être sûrs qu’il marche ? » Il reprend les commandes qu’on exécute en local ; la vraie preuve sera un run vert après activation.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bilan point par point. Le MVP est rempli sauf l’exécution CI : le workflow est prêt mais aucun run GitHub n’est confirmé. Pour l’indépendance à l’ordre, on écrit « conçu » et pas « fait » : chaque test crée ses propres données avec un identifiant unique et ne suppose rien des autres, mais on n’a pas mesuré en mélangeant l’ordre. Autre nuance à connaître : Playwright tourne avec un seul worker, pour ne pas surcharger l’instance partagée ; ce n’est pas une dépendance à l’ordre, c’est un choix de stabilité. Les extensions ne sont pas faites, c’est assumé.</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Connaître ses limites fait partie du critère « théorie ». Le mock ne dit rien sur la qualité des réponses d’un vrai modèle. Nos deux tenants sont deux conteneurs sur une même machine : c’est une simulation de l’isolation multi-tenant, pas une preuve de sécurité en production. Les sélecteurs dépendent de la version d’Open WebUI, c’est pour ça qu’elle est figée dans Docker Compose ; une matrice de versions montrerait ce qui casse à la mise à jour. Certains scénarios laissent des conversations de test dans les volumes Docker. Les prochaines étapes reprennent directement les extensions du sujet.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Répartition du travail, telle que décrite dans le README : @Will-emma a posé les fondations, avec l’environnement Docker, la structure du projet, les premiers tests et la configuration ; @StarkMac22 a finalisé les parcours RAG et outils dans le navigateur, amélioré les fixtures et le mock, puis mené la validation et la campagne de stabilité. Chacun doit pouvoir expliquer l’ensemble, c’est une exigence de la soutenance. Sur l’IA : nous avons utilisé Claude et Codex pour corriger des bugs. Question possible : « qu’avez-vous fait vous-mêmes ? » Répondre avec vos propres choix concrets : la stratégie de test, les scénarios retenus, la façon de prouver chaque résultat, et l’exécution des campagnes.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la soutenance, tout ce qui est long est déjà prêt : Node.js, les dépendances installées avec npm ci, Chromium pour Playwright, et le fichier .env avec le compte de test. Lancer aussi npm run env:up un peu avant de passer, car le premier démarrage d’Open WebUI prend du temps. La démo suit quatre étapes : env:up démarre les deux tenants et le mock ; seed crée les comptes admin sur A et B ; npm test lance les 17 tests ; report ouvre le rapport HTML. Si le temps le permet, npm run test:baseline montre l’échec de la version naïve. Le nettoyage vient après la démo, pas pendant : npm run env:down arrête les services sans effacer les volumes ; ne pas utiliser env:reset, qui supprime les données. Plan B si Docker ou le réseau posent problème : montrer le rapport Playwright et reports/flakiness.md déjà générés.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en une phrase : on a une suite E2E reproductible, gratuite et stable, qui couvre chat, RAG, outils et isolation, et dont la stabilité est mesurée, pas supposée. Merci, place aux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293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0E2A47"/>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01441"/>
            <a:ext cx="10566400" cy="4043759"/>
          </a:xfrm>
          <a:prstGeom prst="rect">
            <a:avLst/>
          </a:prstGeom>
          <a:noFill/>
          <a:ln/>
        </p:spPr>
        <p:txBody>
          <a:bodyPr wrap="square" lIns="0" tIns="0" rIns="0" bIns="0" rtlCol="0" anchor="t"/>
          <a:lstStyle>
            <a:lvl1pPr marL="0" indent="0" algn="l">
              <a:lnSpc>
                <a:spcPct val="140000"/>
              </a:lnSpc>
              <a:buNone/>
              <a:defRPr lang="en-US" sz="1600" dirty="0">
                <a:solidFill>
                  <a:srgbClr val="0E2A4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293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0E2A47"/>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01441"/>
            <a:ext cx="10566400" cy="4043759"/>
          </a:xfrm>
          <a:prstGeom prst="rect">
            <a:avLst/>
          </a:prstGeom>
          <a:noFill/>
          <a:ln/>
        </p:spPr>
        <p:txBody>
          <a:bodyPr wrap="square" lIns="0" tIns="0" rIns="0" bIns="0" rtlCol="0" anchor="t"/>
          <a:lstStyle>
            <a:lvl1pPr marL="0" indent="0" algn="l">
              <a:lnSpc>
                <a:spcPct val="140000"/>
              </a:lnSpc>
              <a:buNone/>
              <a:defRPr lang="en-US" sz="1600" dirty="0">
                <a:solidFill>
                  <a:srgbClr val="0E2A4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5.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40.png"/><Relationship Id="rId2" Type="http://schemas.openxmlformats.org/officeDocument/2006/relationships/notesSlide" Target="../notesSlides/notesSlide5.xml"/><Relationship Id="rId16"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5" Type="http://schemas.openxmlformats.org/officeDocument/2006/relationships/image" Target="../media/image3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s>
</file>

<file path=ppt/slides/_rels/slide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png"/><Relationship Id="rId7"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47.png"/></Relationships>
</file>

<file path=ppt/slides/_rels/slide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10.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14.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8DB8E8"/>
                </a:solidFill>
                <a:latin typeface="Courier New" pitchFamily="49" charset="0"/>
                <a:ea typeface="Courier New" pitchFamily="49" charset="-122"/>
                <a:cs typeface="Courier New" pitchFamily="49" charset="-120"/>
              </a:rPr>
              <a:t>MSMIN5IN52 · GenAI · Sujet F1</a:t>
            </a:r>
            <a:endParaRPr lang="en-US" sz="1400" dirty="0"/>
          </a:p>
        </p:txBody>
      </p:sp>
      <p:sp>
        <p:nvSpPr>
          <p:cNvPr id="3" name="Text 1"/>
          <p:cNvSpPr>
            <a:spLocks noGrp="1"/>
          </p:cNvSpPr>
          <p:nvPr>
            <p:ph type="title"/>
          </p:nvPr>
        </p:nvSpPr>
        <p:spPr>
          <a:xfrm>
            <a:off x="812800" y="229483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4F7FB"/>
                </a:solidFill>
                <a:latin typeface="Arial" pitchFamily="34" charset="0"/>
                <a:ea typeface="Arial" pitchFamily="34" charset="-122"/>
                <a:cs typeface="Arial" pitchFamily="34" charset="-120"/>
              </a:rPr>
              <a:t>QA E2E d’Open WebUI</a:t>
            </a:r>
            <a:endParaRPr lang="en-US" sz="6000" dirty="0"/>
          </a:p>
        </p:txBody>
      </p:sp>
      <p:sp>
        <p:nvSpPr>
          <p:cNvPr id="4" name="Text 2"/>
          <p:cNvSpPr/>
          <p:nvPr/>
        </p:nvSpPr>
        <p:spPr>
          <a:xfrm>
            <a:off x="812800" y="3298130"/>
            <a:ext cx="10883392"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C4D6EA"/>
                </a:solidFill>
                <a:latin typeface="Arial" pitchFamily="34" charset="0"/>
                <a:ea typeface="Arial" pitchFamily="34" charset="-122"/>
                <a:cs typeface="Arial" pitchFamily="34" charset="-120"/>
              </a:rPr>
              <a:t>Tester un parcours RAG et outils sur deux tenants isolés,</a:t>
            </a:r>
            <a:endParaRPr lang="en-US" sz="2000" dirty="0"/>
          </a:p>
          <a:p>
            <a:pPr marL="0" indent="0" algn="l">
              <a:lnSpc>
                <a:spcPts val="2600"/>
              </a:lnSpc>
              <a:buNone/>
            </a:pPr>
            <a:r>
              <a:rPr lang="en-US" sz="2000" dirty="0">
                <a:solidFill>
                  <a:srgbClr val="C4D6EA"/>
                </a:solidFill>
                <a:latin typeface="Arial" pitchFamily="34" charset="0"/>
                <a:ea typeface="Arial" pitchFamily="34" charset="-122"/>
                <a:cs typeface="Arial" pitchFamily="34" charset="-120"/>
              </a:rPr>
              <a:t>avec Playwright, Docker et un LLM simulé</a:t>
            </a:r>
            <a:endParaRPr lang="en-US" sz="2000" dirty="0"/>
          </a:p>
        </p:txBody>
      </p:sp>
      <p:sp>
        <p:nvSpPr>
          <p:cNvPr id="5" name="Shape 3"/>
          <p:cNvSpPr/>
          <p:nvPr/>
        </p:nvSpPr>
        <p:spPr>
          <a:xfrm>
            <a:off x="812800" y="4161730"/>
            <a:ext cx="1345803" cy="383480"/>
          </a:xfrm>
          <a:prstGeom prst="roundRect">
            <a:avLst>
              <a:gd name="adj" fmla="val 50000"/>
            </a:avLst>
          </a:prstGeom>
          <a:solidFill>
            <a:srgbClr val="17375C"/>
          </a:solidFill>
          <a:ln/>
        </p:spPr>
        <p:txBody>
          <a:bodyPr/>
          <a:lstStyle/>
          <a:p>
            <a:endParaRPr lang="fr-FR"/>
          </a:p>
        </p:txBody>
      </p:sp>
      <p:pic>
        <p:nvPicPr>
          <p:cNvPr id="6" name="Image 0" descr="Play"/>
          <p:cNvPicPr>
            <a:picLocks noChangeAspect="1"/>
          </p:cNvPicPr>
          <p:nvPr/>
        </p:nvPicPr>
        <p:blipFill>
          <a:blip r:embed="rId3"/>
          <a:srcRect/>
          <a:stretch/>
        </p:blipFill>
        <p:spPr>
          <a:xfrm>
            <a:off x="965200" y="4251821"/>
            <a:ext cx="203200" cy="203200"/>
          </a:xfrm>
          <a:prstGeom prst="rect">
            <a:avLst/>
          </a:prstGeom>
        </p:spPr>
      </p:pic>
      <p:sp>
        <p:nvSpPr>
          <p:cNvPr id="7" name="Text 4"/>
          <p:cNvSpPr/>
          <p:nvPr/>
        </p:nvSpPr>
        <p:spPr>
          <a:xfrm>
            <a:off x="1244600" y="4237930"/>
            <a:ext cx="91392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Arial" pitchFamily="34" charset="0"/>
                <a:ea typeface="Arial" pitchFamily="34" charset="-122"/>
                <a:cs typeface="Arial" pitchFamily="34" charset="-120"/>
              </a:rPr>
              <a:t>Playwright</a:t>
            </a:r>
            <a:endParaRPr lang="en-US" sz="1300" dirty="0"/>
          </a:p>
        </p:txBody>
      </p:sp>
      <p:sp>
        <p:nvSpPr>
          <p:cNvPr id="8" name="Shape 5"/>
          <p:cNvSpPr/>
          <p:nvPr/>
        </p:nvSpPr>
        <p:spPr>
          <a:xfrm>
            <a:off x="2260203" y="4161730"/>
            <a:ext cx="1815604" cy="383480"/>
          </a:xfrm>
          <a:prstGeom prst="roundRect">
            <a:avLst>
              <a:gd name="adj" fmla="val 50000"/>
            </a:avLst>
          </a:prstGeom>
          <a:solidFill>
            <a:srgbClr val="17375C"/>
          </a:solidFill>
          <a:ln/>
        </p:spPr>
        <p:txBody>
          <a:bodyPr/>
          <a:lstStyle/>
          <a:p>
            <a:endParaRPr lang="fr-FR"/>
          </a:p>
        </p:txBody>
      </p:sp>
      <p:pic>
        <p:nvPicPr>
          <p:cNvPr id="9" name="Image 1" descr="Globe"/>
          <p:cNvPicPr>
            <a:picLocks noChangeAspect="1"/>
          </p:cNvPicPr>
          <p:nvPr/>
        </p:nvPicPr>
        <p:blipFill>
          <a:blip r:embed="rId4"/>
          <a:srcRect/>
          <a:stretch/>
        </p:blipFill>
        <p:spPr>
          <a:xfrm>
            <a:off x="2412603" y="4251821"/>
            <a:ext cx="203200" cy="203200"/>
          </a:xfrm>
          <a:prstGeom prst="rect">
            <a:avLst/>
          </a:prstGeom>
        </p:spPr>
      </p:pic>
      <p:sp>
        <p:nvSpPr>
          <p:cNvPr id="10" name="Text 6"/>
          <p:cNvSpPr/>
          <p:nvPr/>
        </p:nvSpPr>
        <p:spPr>
          <a:xfrm>
            <a:off x="2692003" y="4237930"/>
            <a:ext cx="138380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Arial" pitchFamily="34" charset="0"/>
                <a:ea typeface="Arial" pitchFamily="34" charset="-122"/>
                <a:cs typeface="Arial" pitchFamily="34" charset="-120"/>
              </a:rPr>
              <a:t>Open WebUI × 2</a:t>
            </a:r>
            <a:endParaRPr lang="en-US" sz="1300" dirty="0"/>
          </a:p>
        </p:txBody>
      </p:sp>
      <p:sp>
        <p:nvSpPr>
          <p:cNvPr id="11" name="Shape 7"/>
          <p:cNvSpPr/>
          <p:nvPr/>
        </p:nvSpPr>
        <p:spPr>
          <a:xfrm>
            <a:off x="4177407" y="4161730"/>
            <a:ext cx="1859657" cy="383480"/>
          </a:xfrm>
          <a:prstGeom prst="roundRect">
            <a:avLst>
              <a:gd name="adj" fmla="val 50000"/>
            </a:avLst>
          </a:prstGeom>
          <a:solidFill>
            <a:srgbClr val="17375C"/>
          </a:solidFill>
          <a:ln/>
        </p:spPr>
        <p:txBody>
          <a:bodyPr/>
          <a:lstStyle/>
          <a:p>
            <a:endParaRPr lang="fr-FR"/>
          </a:p>
        </p:txBody>
      </p:sp>
      <p:pic>
        <p:nvPicPr>
          <p:cNvPr id="12" name="Image 2" descr="Cloud"/>
          <p:cNvPicPr>
            <a:picLocks noChangeAspect="1"/>
          </p:cNvPicPr>
          <p:nvPr/>
        </p:nvPicPr>
        <p:blipFill>
          <a:blip r:embed="rId5"/>
          <a:srcRect/>
          <a:stretch/>
        </p:blipFill>
        <p:spPr>
          <a:xfrm>
            <a:off x="4329807" y="4251821"/>
            <a:ext cx="203200" cy="203200"/>
          </a:xfrm>
          <a:prstGeom prst="rect">
            <a:avLst/>
          </a:prstGeom>
        </p:spPr>
      </p:pic>
      <p:sp>
        <p:nvSpPr>
          <p:cNvPr id="13" name="Text 8"/>
          <p:cNvSpPr/>
          <p:nvPr/>
        </p:nvSpPr>
        <p:spPr>
          <a:xfrm>
            <a:off x="4609207" y="4237930"/>
            <a:ext cx="142785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Arial" pitchFamily="34" charset="0"/>
                <a:ea typeface="Arial" pitchFamily="34" charset="-122"/>
                <a:cs typeface="Arial" pitchFamily="34" charset="-120"/>
              </a:rPr>
              <a:t>Docker Compose</a:t>
            </a:r>
            <a:endParaRPr lang="en-US" sz="1300" dirty="0"/>
          </a:p>
        </p:txBody>
      </p:sp>
      <p:sp>
        <p:nvSpPr>
          <p:cNvPr id="14" name="Shape 9"/>
          <p:cNvSpPr/>
          <p:nvPr/>
        </p:nvSpPr>
        <p:spPr>
          <a:xfrm>
            <a:off x="6138664" y="4161730"/>
            <a:ext cx="1345704" cy="383480"/>
          </a:xfrm>
          <a:prstGeom prst="roundRect">
            <a:avLst>
              <a:gd name="adj" fmla="val 50000"/>
            </a:avLst>
          </a:prstGeom>
          <a:solidFill>
            <a:srgbClr val="17375C"/>
          </a:solidFill>
          <a:ln/>
        </p:spPr>
        <p:txBody>
          <a:bodyPr/>
          <a:lstStyle/>
          <a:p>
            <a:endParaRPr lang="fr-FR"/>
          </a:p>
        </p:txBody>
      </p:sp>
      <p:pic>
        <p:nvPicPr>
          <p:cNvPr id="15" name="Image 3" descr="Lightning"/>
          <p:cNvPicPr>
            <a:picLocks noChangeAspect="1"/>
          </p:cNvPicPr>
          <p:nvPr/>
        </p:nvPicPr>
        <p:blipFill>
          <a:blip r:embed="rId6"/>
          <a:srcRect/>
          <a:stretch/>
        </p:blipFill>
        <p:spPr>
          <a:xfrm>
            <a:off x="6291064" y="4251821"/>
            <a:ext cx="203200" cy="203200"/>
          </a:xfrm>
          <a:prstGeom prst="rect">
            <a:avLst/>
          </a:prstGeom>
        </p:spPr>
      </p:pic>
      <p:sp>
        <p:nvSpPr>
          <p:cNvPr id="16" name="Text 10"/>
          <p:cNvSpPr/>
          <p:nvPr/>
        </p:nvSpPr>
        <p:spPr>
          <a:xfrm>
            <a:off x="6570464" y="4237930"/>
            <a:ext cx="91380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Arial" pitchFamily="34" charset="0"/>
                <a:ea typeface="Arial" pitchFamily="34" charset="-122"/>
                <a:cs typeface="Arial" pitchFamily="34" charset="-120"/>
              </a:rPr>
              <a:t>Mock LLM</a:t>
            </a:r>
            <a:endParaRPr lang="en-US" sz="1300" dirty="0"/>
          </a:p>
        </p:txBody>
      </p:sp>
      <p:sp>
        <p:nvSpPr>
          <p:cNvPr id="17" name="Text 11"/>
          <p:cNvSpPr/>
          <p:nvPr/>
        </p:nvSpPr>
        <p:spPr>
          <a:xfrm>
            <a:off x="812800" y="5778401"/>
            <a:ext cx="304276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4F7FB"/>
                </a:solidFill>
                <a:latin typeface="Arial" pitchFamily="34" charset="0"/>
                <a:ea typeface="Arial" pitchFamily="34" charset="-122"/>
                <a:cs typeface="Arial" pitchFamily="34" charset="-120"/>
              </a:rPr>
              <a:t>@Will-emma &amp; @StarkMac22</a:t>
            </a:r>
            <a:endParaRPr lang="en-US" sz="1500" dirty="0"/>
          </a:p>
        </p:txBody>
      </p:sp>
      <p:sp>
        <p:nvSpPr>
          <p:cNvPr id="18" name="Text 12"/>
          <p:cNvSpPr/>
          <p:nvPr/>
        </p:nvSpPr>
        <p:spPr>
          <a:xfrm>
            <a:off x="8508484" y="5796260"/>
            <a:ext cx="2870716"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C4D6EA"/>
                </a:solidFill>
                <a:latin typeface="Arial" pitchFamily="34" charset="0"/>
                <a:ea typeface="Arial" pitchFamily="34" charset="-122"/>
                <a:cs typeface="Arial" pitchFamily="34" charset="-120"/>
              </a:rPr>
              <a:t>Soutenance · 28 octobre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LE PROBLÈME</a:t>
            </a:r>
            <a:endParaRPr lang="en-US" sz="1200" dirty="0"/>
          </a:p>
        </p:txBody>
      </p:sp>
      <p:sp>
        <p:nvSpPr>
          <p:cNvPr id="3" name="Text 1"/>
          <p:cNvSpPr>
            <a:spLocks noGrp="1"/>
          </p:cNvSpPr>
          <p:nvPr>
            <p:ph type="title"/>
          </p:nvPr>
        </p:nvSpPr>
        <p:spPr>
          <a:xfrm>
            <a:off x="812800" y="1280120"/>
            <a:ext cx="10883392"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Comment tester une application de chat LLM de façon fiable ?</a:t>
            </a:r>
            <a:endParaRPr lang="en-US" sz="3200" dirty="0"/>
          </a:p>
        </p:txBody>
      </p:sp>
      <p:sp>
        <p:nvSpPr>
          <p:cNvPr id="4" name="Shape 2"/>
          <p:cNvSpPr/>
          <p:nvPr/>
        </p:nvSpPr>
        <p:spPr>
          <a:xfrm>
            <a:off x="819150" y="2475111"/>
            <a:ext cx="6311900" cy="718741"/>
          </a:xfrm>
          <a:prstGeom prst="roundRect">
            <a:avLst>
              <a:gd name="adj" fmla="val 11485"/>
            </a:avLst>
          </a:prstGeom>
          <a:solidFill>
            <a:srgbClr val="FDFEFF"/>
          </a:solidFill>
          <a:ln w="12700">
            <a:solidFill>
              <a:srgbClr val="0E2A47"/>
            </a:solidFill>
            <a:prstDash val="solid"/>
          </a:ln>
        </p:spPr>
        <p:txBody>
          <a:bodyPr/>
          <a:lstStyle/>
          <a:p>
            <a:endParaRPr lang="fr-FR"/>
          </a:p>
        </p:txBody>
      </p:sp>
      <p:pic>
        <p:nvPicPr>
          <p:cNvPr id="5" name="Image 0" descr="Lightning"/>
          <p:cNvPicPr>
            <a:picLocks noChangeAspect="1"/>
          </p:cNvPicPr>
          <p:nvPr/>
        </p:nvPicPr>
        <p:blipFill>
          <a:blip r:embed="rId3"/>
          <a:srcRect/>
          <a:stretch/>
        </p:blipFill>
        <p:spPr>
          <a:xfrm>
            <a:off x="977900" y="2694781"/>
            <a:ext cx="279400" cy="279400"/>
          </a:xfrm>
          <a:prstGeom prst="rect">
            <a:avLst/>
          </a:prstGeom>
        </p:spPr>
      </p:pic>
      <p:sp>
        <p:nvSpPr>
          <p:cNvPr id="6" name="Text 3"/>
          <p:cNvSpPr/>
          <p:nvPr/>
        </p:nvSpPr>
        <p:spPr>
          <a:xfrm>
            <a:off x="1384300" y="2608461"/>
            <a:ext cx="569779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Un LLM ne répond jamais deux fois pareil</a:t>
            </a:r>
            <a:endParaRPr lang="en-US" sz="1400" dirty="0"/>
          </a:p>
        </p:txBody>
      </p:sp>
      <p:sp>
        <p:nvSpPr>
          <p:cNvPr id="7" name="Text 4"/>
          <p:cNvSpPr/>
          <p:nvPr/>
        </p:nvSpPr>
        <p:spPr>
          <a:xfrm>
            <a:off x="1384300" y="2847181"/>
            <a:ext cx="5740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Un échec ne dit pas si la faute vient de l’app ou du modèle → </a:t>
            </a:r>
            <a:r>
              <a:rPr lang="en-US" sz="1200" b="1" dirty="0">
                <a:solidFill>
                  <a:srgbClr val="2563B8"/>
                </a:solidFill>
                <a:latin typeface="Arial" pitchFamily="34" charset="0"/>
                <a:ea typeface="Arial" pitchFamily="34" charset="-122"/>
                <a:cs typeface="Arial" pitchFamily="34" charset="-120"/>
              </a:rPr>
              <a:t>mock déterministe</a:t>
            </a:r>
            <a:endParaRPr lang="en-US" sz="1200" dirty="0"/>
          </a:p>
        </p:txBody>
      </p:sp>
      <p:sp>
        <p:nvSpPr>
          <p:cNvPr id="8" name="Shape 5"/>
          <p:cNvSpPr/>
          <p:nvPr/>
        </p:nvSpPr>
        <p:spPr>
          <a:xfrm>
            <a:off x="819150" y="3308152"/>
            <a:ext cx="6311900" cy="932061"/>
          </a:xfrm>
          <a:prstGeom prst="roundRect">
            <a:avLst>
              <a:gd name="adj" fmla="val 8857"/>
            </a:avLst>
          </a:prstGeom>
          <a:solidFill>
            <a:srgbClr val="FDFEFF"/>
          </a:solidFill>
          <a:ln w="12700">
            <a:solidFill>
              <a:srgbClr val="0E2A47"/>
            </a:solidFill>
            <a:prstDash val="solid"/>
          </a:ln>
        </p:spPr>
        <p:txBody>
          <a:bodyPr/>
          <a:lstStyle/>
          <a:p>
            <a:endParaRPr lang="fr-FR"/>
          </a:p>
        </p:txBody>
      </p:sp>
      <p:pic>
        <p:nvPicPr>
          <p:cNvPr id="9" name="Image 1" descr="Clock"/>
          <p:cNvPicPr>
            <a:picLocks noChangeAspect="1"/>
          </p:cNvPicPr>
          <p:nvPr/>
        </p:nvPicPr>
        <p:blipFill>
          <a:blip r:embed="rId4"/>
          <a:srcRect t="-299" b="-299"/>
          <a:stretch/>
        </p:blipFill>
        <p:spPr>
          <a:xfrm>
            <a:off x="977900" y="3634482"/>
            <a:ext cx="265113" cy="279400"/>
          </a:xfrm>
          <a:prstGeom prst="rect">
            <a:avLst/>
          </a:prstGeom>
        </p:spPr>
      </p:pic>
      <p:sp>
        <p:nvSpPr>
          <p:cNvPr id="10" name="Text 6"/>
          <p:cNvSpPr/>
          <p:nvPr/>
        </p:nvSpPr>
        <p:spPr>
          <a:xfrm>
            <a:off x="1370013" y="3441502"/>
            <a:ext cx="577035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Le streaming rend les tests fragiles</a:t>
            </a:r>
            <a:endParaRPr lang="en-US" sz="1400" dirty="0"/>
          </a:p>
        </p:txBody>
      </p:sp>
      <p:sp>
        <p:nvSpPr>
          <p:cNvPr id="11" name="Text 7"/>
          <p:cNvSpPr/>
          <p:nvPr/>
        </p:nvSpPr>
        <p:spPr>
          <a:xfrm>
            <a:off x="1370013" y="3680222"/>
            <a:ext cx="57703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Lire trop tôt donne un texte tronqué, donc des tests instables → </a:t>
            </a:r>
            <a:r>
              <a:rPr lang="en-US" sz="1200" b="1" dirty="0">
                <a:solidFill>
                  <a:srgbClr val="2563B8"/>
                </a:solidFill>
                <a:latin typeface="Arial" pitchFamily="34" charset="0"/>
                <a:ea typeface="Arial" pitchFamily="34" charset="-122"/>
                <a:cs typeface="Arial" pitchFamily="34" charset="-120"/>
              </a:rPr>
              <a:t>attente conditionnelle</a:t>
            </a:r>
            <a:endParaRPr lang="en-US" sz="1200" dirty="0"/>
          </a:p>
        </p:txBody>
      </p:sp>
      <p:sp>
        <p:nvSpPr>
          <p:cNvPr id="12" name="Shape 8"/>
          <p:cNvSpPr/>
          <p:nvPr/>
        </p:nvSpPr>
        <p:spPr>
          <a:xfrm>
            <a:off x="819150" y="4354513"/>
            <a:ext cx="6311900" cy="932061"/>
          </a:xfrm>
          <a:prstGeom prst="roundRect">
            <a:avLst>
              <a:gd name="adj" fmla="val 8857"/>
            </a:avLst>
          </a:prstGeom>
          <a:solidFill>
            <a:srgbClr val="FDFEFF"/>
          </a:solidFill>
          <a:ln w="12700">
            <a:solidFill>
              <a:srgbClr val="0E2A47"/>
            </a:solidFill>
            <a:prstDash val="solid"/>
          </a:ln>
        </p:spPr>
        <p:txBody>
          <a:bodyPr/>
          <a:lstStyle/>
          <a:p>
            <a:endParaRPr lang="fr-FR"/>
          </a:p>
        </p:txBody>
      </p:sp>
      <p:pic>
        <p:nvPicPr>
          <p:cNvPr id="13" name="Image 2" descr="Lock"/>
          <p:cNvPicPr>
            <a:picLocks noChangeAspect="1"/>
          </p:cNvPicPr>
          <p:nvPr/>
        </p:nvPicPr>
        <p:blipFill>
          <a:blip r:embed="rId5"/>
          <a:srcRect t="-588" b="-588"/>
          <a:stretch/>
        </p:blipFill>
        <p:spPr>
          <a:xfrm>
            <a:off x="977900" y="4680843"/>
            <a:ext cx="269875" cy="279400"/>
          </a:xfrm>
          <a:prstGeom prst="rect">
            <a:avLst/>
          </a:prstGeom>
        </p:spPr>
      </p:pic>
      <p:sp>
        <p:nvSpPr>
          <p:cNvPr id="14" name="Text 9"/>
          <p:cNvSpPr/>
          <p:nvPr/>
        </p:nvSpPr>
        <p:spPr>
          <a:xfrm>
            <a:off x="1374775" y="4487863"/>
            <a:ext cx="576545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Le multi-tenant ne tolère aucune fuite</a:t>
            </a:r>
            <a:endParaRPr lang="en-US" sz="1400" dirty="0"/>
          </a:p>
        </p:txBody>
      </p:sp>
      <p:sp>
        <p:nvSpPr>
          <p:cNvPr id="15" name="Text 10"/>
          <p:cNvSpPr/>
          <p:nvPr/>
        </p:nvSpPr>
        <p:spPr>
          <a:xfrm>
            <a:off x="1374775" y="4726583"/>
            <a:ext cx="576545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Personne ne doit voir les données d’un autre tenant ou utilisateur → </a:t>
            </a:r>
            <a:r>
              <a:rPr lang="en-US" sz="1200" b="1" dirty="0">
                <a:solidFill>
                  <a:srgbClr val="2563B8"/>
                </a:solidFill>
                <a:latin typeface="Arial" pitchFamily="34" charset="0"/>
                <a:ea typeface="Arial" pitchFamily="34" charset="-122"/>
                <a:cs typeface="Arial" pitchFamily="34" charset="-120"/>
              </a:rPr>
              <a:t>tests d’isolation</a:t>
            </a:r>
            <a:endParaRPr lang="en-US" sz="1200" dirty="0"/>
          </a:p>
        </p:txBody>
      </p:sp>
      <p:sp>
        <p:nvSpPr>
          <p:cNvPr id="16" name="Shape 11"/>
          <p:cNvSpPr/>
          <p:nvPr/>
        </p:nvSpPr>
        <p:spPr>
          <a:xfrm>
            <a:off x="7445375" y="2471936"/>
            <a:ext cx="3930650" cy="1001911"/>
          </a:xfrm>
          <a:prstGeom prst="roundRect">
            <a:avLst>
              <a:gd name="adj" fmla="val 9824"/>
            </a:avLst>
          </a:prstGeom>
          <a:solidFill>
            <a:srgbClr val="FBFCFE"/>
          </a:solidFill>
          <a:ln w="6350">
            <a:solidFill>
              <a:srgbClr val="C9D8EA"/>
            </a:solidFill>
            <a:prstDash val="solid"/>
          </a:ln>
        </p:spPr>
        <p:txBody>
          <a:bodyPr/>
          <a:lstStyle/>
          <a:p>
            <a:endParaRPr lang="fr-FR"/>
          </a:p>
        </p:txBody>
      </p:sp>
      <p:sp>
        <p:nvSpPr>
          <p:cNvPr id="17" name="Text 12"/>
          <p:cNvSpPr/>
          <p:nvPr/>
        </p:nvSpPr>
        <p:spPr>
          <a:xfrm>
            <a:off x="7626350" y="2627511"/>
            <a:ext cx="36757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563B8"/>
                </a:solidFill>
                <a:latin typeface="Arial" pitchFamily="34" charset="0"/>
                <a:ea typeface="Arial" pitchFamily="34" charset="-122"/>
                <a:cs typeface="Arial" pitchFamily="34" charset="-120"/>
              </a:rPr>
              <a:t>MVP</a:t>
            </a:r>
            <a:endParaRPr lang="en-US" sz="1400" dirty="0"/>
          </a:p>
        </p:txBody>
      </p:sp>
      <p:sp>
        <p:nvSpPr>
          <p:cNvPr id="18" name="Text 13"/>
          <p:cNvSpPr/>
          <p:nvPr/>
        </p:nvSpPr>
        <p:spPr>
          <a:xfrm>
            <a:off x="7626350" y="2891631"/>
            <a:ext cx="367576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Arial" pitchFamily="34" charset="0"/>
                <a:ea typeface="Arial" pitchFamily="34" charset="-122"/>
                <a:cs typeface="Arial" pitchFamily="34" charset="-120"/>
              </a:rPr>
              <a:t>10 tests E2E, fixtures isolées, traces et captures d’échec, exécution CI</a:t>
            </a:r>
            <a:endParaRPr lang="en-US" sz="1200" dirty="0"/>
          </a:p>
        </p:txBody>
      </p:sp>
      <p:sp>
        <p:nvSpPr>
          <p:cNvPr id="19" name="Shape 14"/>
          <p:cNvSpPr/>
          <p:nvPr/>
        </p:nvSpPr>
        <p:spPr>
          <a:xfrm>
            <a:off x="7445375" y="3581797"/>
            <a:ext cx="3930650" cy="1001911"/>
          </a:xfrm>
          <a:prstGeom prst="roundRect">
            <a:avLst>
              <a:gd name="adj" fmla="val 9824"/>
            </a:avLst>
          </a:prstGeom>
          <a:solidFill>
            <a:srgbClr val="FBFCFE"/>
          </a:solidFill>
          <a:ln w="6350">
            <a:solidFill>
              <a:srgbClr val="C9D8EA"/>
            </a:solidFill>
            <a:prstDash val="solid"/>
          </a:ln>
        </p:spPr>
        <p:txBody>
          <a:bodyPr/>
          <a:lstStyle/>
          <a:p>
            <a:endParaRPr lang="fr-FR"/>
          </a:p>
        </p:txBody>
      </p:sp>
      <p:sp>
        <p:nvSpPr>
          <p:cNvPr id="20" name="Text 15"/>
          <p:cNvSpPr/>
          <p:nvPr/>
        </p:nvSpPr>
        <p:spPr>
          <a:xfrm>
            <a:off x="7626350" y="3737372"/>
            <a:ext cx="36757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563B8"/>
                </a:solidFill>
                <a:latin typeface="Arial" pitchFamily="34" charset="0"/>
                <a:ea typeface="Arial" pitchFamily="34" charset="-122"/>
                <a:cs typeface="Arial" pitchFamily="34" charset="-120"/>
              </a:rPr>
              <a:t>Réussite</a:t>
            </a:r>
            <a:endParaRPr lang="en-US" sz="1400" dirty="0"/>
          </a:p>
        </p:txBody>
      </p:sp>
      <p:sp>
        <p:nvSpPr>
          <p:cNvPr id="21" name="Text 16"/>
          <p:cNvSpPr/>
          <p:nvPr/>
        </p:nvSpPr>
        <p:spPr>
          <a:xfrm>
            <a:off x="7626350" y="4001492"/>
            <a:ext cx="367576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Arial" pitchFamily="34" charset="0"/>
                <a:ea typeface="Arial" pitchFamily="34" charset="-122"/>
                <a:cs typeface="Arial" pitchFamily="34" charset="-120"/>
              </a:rPr>
              <a:t>Nominal + erreur, aucune dépendance à l’ordre, rapport de flakiness sur 10 runs</a:t>
            </a:r>
            <a:endParaRPr lang="en-US" sz="1200" dirty="0"/>
          </a:p>
        </p:txBody>
      </p:sp>
      <p:sp>
        <p:nvSpPr>
          <p:cNvPr id="22" name="Shape 17"/>
          <p:cNvSpPr/>
          <p:nvPr/>
        </p:nvSpPr>
        <p:spPr>
          <a:xfrm>
            <a:off x="7445375" y="4691658"/>
            <a:ext cx="3930650" cy="788591"/>
          </a:xfrm>
          <a:prstGeom prst="roundRect">
            <a:avLst>
              <a:gd name="adj" fmla="val 12481"/>
            </a:avLst>
          </a:prstGeom>
          <a:solidFill>
            <a:srgbClr val="FBFCFE"/>
          </a:solidFill>
          <a:ln w="6350">
            <a:solidFill>
              <a:srgbClr val="C9D8EA"/>
            </a:solidFill>
            <a:prstDash val="solid"/>
          </a:ln>
        </p:spPr>
        <p:txBody>
          <a:bodyPr/>
          <a:lstStyle/>
          <a:p>
            <a:endParaRPr lang="fr-FR"/>
          </a:p>
        </p:txBody>
      </p:sp>
      <p:sp>
        <p:nvSpPr>
          <p:cNvPr id="23" name="Text 18"/>
          <p:cNvSpPr/>
          <p:nvPr/>
        </p:nvSpPr>
        <p:spPr>
          <a:xfrm>
            <a:off x="7626350" y="4847233"/>
            <a:ext cx="36757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563B8"/>
                </a:solidFill>
                <a:latin typeface="Arial" pitchFamily="34" charset="0"/>
                <a:ea typeface="Arial" pitchFamily="34" charset="-122"/>
                <a:cs typeface="Arial" pitchFamily="34" charset="-120"/>
              </a:rPr>
              <a:t>Contraintes</a:t>
            </a:r>
            <a:endParaRPr lang="en-US" sz="1400" dirty="0"/>
          </a:p>
        </p:txBody>
      </p:sp>
      <p:sp>
        <p:nvSpPr>
          <p:cNvPr id="24" name="Text 19"/>
          <p:cNvSpPr/>
          <p:nvPr/>
        </p:nvSpPr>
        <p:spPr>
          <a:xfrm>
            <a:off x="7626350" y="5111353"/>
            <a:ext cx="36757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Arial" pitchFamily="34" charset="0"/>
                <a:ea typeface="Arial" pitchFamily="34" charset="-122"/>
                <a:cs typeface="Arial" pitchFamily="34" charset="-120"/>
              </a:rPr>
              <a:t>Docker + navigateur, pas de GPU, budget &lt; 5 €</a:t>
            </a:r>
            <a:endParaRPr lang="en-US" sz="1200" dirty="0"/>
          </a:p>
        </p:txBody>
      </p:sp>
      <p:sp>
        <p:nvSpPr>
          <p:cNvPr id="25"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7785"/>
          </a:xfrm>
          <a:prstGeom prst="rect">
            <a:avLst/>
          </a:prstGeom>
          <a:noFill/>
          <a:ln/>
        </p:spPr>
        <p:txBody>
          <a:bodyPr wrap="square" lIns="0" tIns="0" rIns="0" bIns="0" rtlCol="0" anchor="t">
            <a:normAutofit/>
          </a:bodyPr>
          <a:lstStyle/>
          <a:p>
            <a:pPr marL="0" indent="0" algn="l">
              <a:lnSpc>
                <a:spcPts val="1523"/>
              </a:lnSpc>
              <a:buNone/>
            </a:pPr>
            <a:r>
              <a:rPr lang="en-US" sz="1088" kern="0" spc="100" dirty="0">
                <a:solidFill>
                  <a:srgbClr val="2563B8"/>
                </a:solidFill>
                <a:latin typeface="Courier New" pitchFamily="49" charset="0"/>
                <a:ea typeface="Courier New" pitchFamily="49" charset="-122"/>
                <a:cs typeface="Courier New" pitchFamily="49" charset="-120"/>
              </a:rPr>
              <a:t>ARCHITECTURE</a:t>
            </a:r>
            <a:endParaRPr lang="en-US" sz="1088" dirty="0"/>
          </a:p>
        </p:txBody>
      </p:sp>
      <p:sp>
        <p:nvSpPr>
          <p:cNvPr id="3" name="Text 1"/>
          <p:cNvSpPr>
            <a:spLocks noGrp="1"/>
          </p:cNvSpPr>
          <p:nvPr>
            <p:ph type="title"/>
          </p:nvPr>
        </p:nvSpPr>
        <p:spPr>
          <a:xfrm>
            <a:off x="812800" y="1259185"/>
            <a:ext cx="10883392" cy="446782"/>
          </a:xfrm>
          <a:prstGeom prst="rect">
            <a:avLst/>
          </a:prstGeom>
          <a:noFill/>
          <a:ln/>
        </p:spPr>
        <p:txBody>
          <a:bodyPr wrap="square" lIns="0" tIns="0" rIns="0" bIns="0" rtlCol="0" anchor="t">
            <a:normAutofit/>
          </a:bodyPr>
          <a:lstStyle/>
          <a:p>
            <a:pPr marL="0" indent="0" algn="l">
              <a:lnSpc>
                <a:spcPts val="3323"/>
              </a:lnSpc>
              <a:buNone/>
            </a:pPr>
            <a:r>
              <a:rPr lang="en-US" sz="2890" b="1" i="0" dirty="0">
                <a:solidFill>
                  <a:srgbClr val="0E2A47"/>
                </a:solidFill>
                <a:latin typeface="Arial" pitchFamily="34" charset="0"/>
                <a:ea typeface="Arial" pitchFamily="34" charset="-122"/>
                <a:cs typeface="Arial" pitchFamily="34" charset="-120"/>
              </a:rPr>
              <a:t>Deux tenants isolés, un mock LLM commun</a:t>
            </a:r>
            <a:endParaRPr lang="en-US" sz="2890" dirty="0"/>
          </a:p>
        </p:txBody>
      </p:sp>
      <p:pic>
        <p:nvPicPr>
          <p:cNvPr id="4" name="Image 0" descr="connector"/>
          <p:cNvPicPr>
            <a:picLocks noChangeAspect="1"/>
          </p:cNvPicPr>
          <p:nvPr/>
        </p:nvPicPr>
        <p:blipFill>
          <a:blip r:embed="rId3"/>
          <a:srcRect/>
          <a:stretch/>
        </p:blipFill>
        <p:spPr>
          <a:xfrm>
            <a:off x="6045200" y="2582267"/>
            <a:ext cx="101600" cy="2070100"/>
          </a:xfrm>
          <a:prstGeom prst="rect">
            <a:avLst/>
          </a:prstGeom>
        </p:spPr>
      </p:pic>
      <p:pic>
        <p:nvPicPr>
          <p:cNvPr id="5" name="Image 1" descr="connector"/>
          <p:cNvPicPr>
            <a:picLocks noChangeAspect="1"/>
          </p:cNvPicPr>
          <p:nvPr/>
        </p:nvPicPr>
        <p:blipFill>
          <a:blip r:embed="rId4"/>
          <a:srcRect/>
          <a:stretch/>
        </p:blipFill>
        <p:spPr>
          <a:xfrm>
            <a:off x="2222500" y="2455267"/>
            <a:ext cx="101600" cy="673100"/>
          </a:xfrm>
          <a:prstGeom prst="rect">
            <a:avLst/>
          </a:prstGeom>
        </p:spPr>
      </p:pic>
      <p:pic>
        <p:nvPicPr>
          <p:cNvPr id="6" name="Image 2" descr="connector"/>
          <p:cNvPicPr>
            <a:picLocks noChangeAspect="1"/>
          </p:cNvPicPr>
          <p:nvPr/>
        </p:nvPicPr>
        <p:blipFill>
          <a:blip r:embed="rId4"/>
          <a:srcRect/>
          <a:stretch/>
        </p:blipFill>
        <p:spPr>
          <a:xfrm>
            <a:off x="8153400" y="2455267"/>
            <a:ext cx="101600" cy="673100"/>
          </a:xfrm>
          <a:prstGeom prst="rect">
            <a:avLst/>
          </a:prstGeom>
        </p:spPr>
      </p:pic>
      <p:pic>
        <p:nvPicPr>
          <p:cNvPr id="7" name="Image 3" descr="connector"/>
          <p:cNvPicPr>
            <a:picLocks noChangeAspect="1"/>
          </p:cNvPicPr>
          <p:nvPr/>
        </p:nvPicPr>
        <p:blipFill>
          <a:blip r:embed="rId5"/>
          <a:srcRect/>
          <a:stretch/>
        </p:blipFill>
        <p:spPr>
          <a:xfrm>
            <a:off x="2222500" y="3915767"/>
            <a:ext cx="101600" cy="863600"/>
          </a:xfrm>
          <a:prstGeom prst="rect">
            <a:avLst/>
          </a:prstGeom>
        </p:spPr>
      </p:pic>
      <p:pic>
        <p:nvPicPr>
          <p:cNvPr id="8" name="Image 4" descr="connector"/>
          <p:cNvPicPr>
            <a:picLocks noChangeAspect="1"/>
          </p:cNvPicPr>
          <p:nvPr/>
        </p:nvPicPr>
        <p:blipFill>
          <a:blip r:embed="rId5"/>
          <a:srcRect/>
          <a:stretch/>
        </p:blipFill>
        <p:spPr>
          <a:xfrm>
            <a:off x="8153400" y="3915767"/>
            <a:ext cx="101600" cy="863600"/>
          </a:xfrm>
          <a:prstGeom prst="rect">
            <a:avLst/>
          </a:prstGeom>
        </p:spPr>
      </p:pic>
      <p:pic>
        <p:nvPicPr>
          <p:cNvPr id="9" name="Image 5" descr="connector"/>
          <p:cNvPicPr>
            <a:picLocks noChangeAspect="1"/>
          </p:cNvPicPr>
          <p:nvPr/>
        </p:nvPicPr>
        <p:blipFill>
          <a:blip r:embed="rId6"/>
          <a:srcRect/>
          <a:stretch/>
        </p:blipFill>
        <p:spPr>
          <a:xfrm>
            <a:off x="3683000" y="3471267"/>
            <a:ext cx="546100" cy="101600"/>
          </a:xfrm>
          <a:prstGeom prst="rect">
            <a:avLst/>
          </a:prstGeom>
        </p:spPr>
      </p:pic>
      <p:pic>
        <p:nvPicPr>
          <p:cNvPr id="10" name="Image 6" descr="connector"/>
          <p:cNvPicPr>
            <a:picLocks noChangeAspect="1"/>
          </p:cNvPicPr>
          <p:nvPr/>
        </p:nvPicPr>
        <p:blipFill>
          <a:blip r:embed="rId6"/>
          <a:srcRect/>
          <a:stretch/>
        </p:blipFill>
        <p:spPr>
          <a:xfrm>
            <a:off x="9613900" y="3471267"/>
            <a:ext cx="546100" cy="101600"/>
          </a:xfrm>
          <a:prstGeom prst="rect">
            <a:avLst/>
          </a:prstGeom>
        </p:spPr>
      </p:pic>
      <p:sp>
        <p:nvSpPr>
          <p:cNvPr id="11" name="Shape 2"/>
          <p:cNvSpPr/>
          <p:nvPr/>
        </p:nvSpPr>
        <p:spPr>
          <a:xfrm>
            <a:off x="819150" y="1940917"/>
            <a:ext cx="10553700" cy="558800"/>
          </a:xfrm>
          <a:prstGeom prst="roundRect">
            <a:avLst>
              <a:gd name="adj" fmla="val 14773"/>
            </a:avLst>
          </a:prstGeom>
          <a:solidFill>
            <a:srgbClr val="FDFEFF"/>
          </a:solidFill>
          <a:ln w="12700">
            <a:solidFill>
              <a:srgbClr val="0E2A47"/>
            </a:solidFill>
            <a:prstDash val="solid"/>
          </a:ln>
        </p:spPr>
        <p:txBody>
          <a:bodyPr/>
          <a:lstStyle/>
          <a:p>
            <a:endParaRPr lang="fr-FR"/>
          </a:p>
        </p:txBody>
      </p:sp>
      <p:pic>
        <p:nvPicPr>
          <p:cNvPr id="12" name="Image 7" descr="Play"/>
          <p:cNvPicPr>
            <a:picLocks noChangeAspect="1"/>
          </p:cNvPicPr>
          <p:nvPr/>
        </p:nvPicPr>
        <p:blipFill>
          <a:blip r:embed="rId7"/>
          <a:srcRect/>
          <a:stretch/>
        </p:blipFill>
        <p:spPr>
          <a:xfrm>
            <a:off x="4297958" y="2093317"/>
            <a:ext cx="254000" cy="254000"/>
          </a:xfrm>
          <a:prstGeom prst="rect">
            <a:avLst/>
          </a:prstGeom>
        </p:spPr>
      </p:pic>
      <p:sp>
        <p:nvSpPr>
          <p:cNvPr id="13" name="Text 3"/>
          <p:cNvSpPr/>
          <p:nvPr/>
        </p:nvSpPr>
        <p:spPr>
          <a:xfrm>
            <a:off x="4653558" y="2078038"/>
            <a:ext cx="388858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E2A47"/>
                </a:solidFill>
                <a:latin typeface="Arial" pitchFamily="34" charset="0"/>
                <a:ea typeface="Arial" pitchFamily="34" charset="-122"/>
                <a:cs typeface="Arial" pitchFamily="34" charset="-120"/>
              </a:rPr>
              <a:t>Playwright · Chromium · 1 worker</a:t>
            </a:r>
            <a:endParaRPr lang="en-US" sz="1600" dirty="0"/>
          </a:p>
        </p:txBody>
      </p:sp>
      <p:sp>
        <p:nvSpPr>
          <p:cNvPr id="14" name="Text 4"/>
          <p:cNvSpPr/>
          <p:nvPr/>
        </p:nvSpPr>
        <p:spPr>
          <a:xfrm>
            <a:off x="2400300" y="2664817"/>
            <a:ext cx="939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Courier New" pitchFamily="49" charset="0"/>
                <a:ea typeface="Courier New" pitchFamily="49" charset="-122"/>
                <a:cs typeface="Courier New" pitchFamily="49" charset="-120"/>
              </a:rPr>
              <a:t>HTTP</a:t>
            </a:r>
            <a:endParaRPr lang="en-US" sz="1200" dirty="0"/>
          </a:p>
        </p:txBody>
      </p:sp>
      <p:sp>
        <p:nvSpPr>
          <p:cNvPr id="15" name="Text 5"/>
          <p:cNvSpPr/>
          <p:nvPr/>
        </p:nvSpPr>
        <p:spPr>
          <a:xfrm>
            <a:off x="8331200" y="2664817"/>
            <a:ext cx="939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Courier New" pitchFamily="49" charset="0"/>
                <a:ea typeface="Courier New" pitchFamily="49" charset="-122"/>
                <a:cs typeface="Courier New" pitchFamily="49" charset="-120"/>
              </a:rPr>
              <a:t>HTTP</a:t>
            </a:r>
            <a:endParaRPr lang="en-US" sz="1200" dirty="0"/>
          </a:p>
        </p:txBody>
      </p:sp>
      <p:sp>
        <p:nvSpPr>
          <p:cNvPr id="16" name="Shape 6"/>
          <p:cNvSpPr/>
          <p:nvPr/>
        </p:nvSpPr>
        <p:spPr>
          <a:xfrm>
            <a:off x="819150" y="3083917"/>
            <a:ext cx="2908300" cy="876300"/>
          </a:xfrm>
          <a:prstGeom prst="roundRect">
            <a:avLst>
              <a:gd name="adj" fmla="val 9420"/>
            </a:avLst>
          </a:prstGeom>
          <a:solidFill>
            <a:srgbClr val="DCEAFB"/>
          </a:solidFill>
          <a:ln w="12700">
            <a:solidFill>
              <a:srgbClr val="0E2A47"/>
            </a:solidFill>
            <a:prstDash val="solid"/>
          </a:ln>
        </p:spPr>
        <p:txBody>
          <a:bodyPr/>
          <a:lstStyle/>
          <a:p>
            <a:endParaRPr lang="fr-FR"/>
          </a:p>
        </p:txBody>
      </p:sp>
      <p:pic>
        <p:nvPicPr>
          <p:cNvPr id="17" name="Image 8" descr="Globe"/>
          <p:cNvPicPr>
            <a:picLocks noChangeAspect="1"/>
          </p:cNvPicPr>
          <p:nvPr/>
        </p:nvPicPr>
        <p:blipFill>
          <a:blip r:embed="rId8"/>
          <a:srcRect/>
          <a:stretch/>
        </p:blipFill>
        <p:spPr>
          <a:xfrm>
            <a:off x="1003300" y="3242667"/>
            <a:ext cx="254000" cy="254000"/>
          </a:xfrm>
          <a:prstGeom prst="rect">
            <a:avLst/>
          </a:prstGeom>
        </p:spPr>
      </p:pic>
      <p:sp>
        <p:nvSpPr>
          <p:cNvPr id="18" name="Text 7"/>
          <p:cNvSpPr/>
          <p:nvPr/>
        </p:nvSpPr>
        <p:spPr>
          <a:xfrm>
            <a:off x="1333500" y="3247727"/>
            <a:ext cx="102500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Tenant A</a:t>
            </a:r>
            <a:endParaRPr lang="en-US" sz="1600" dirty="0"/>
          </a:p>
        </p:txBody>
      </p:sp>
      <p:sp>
        <p:nvSpPr>
          <p:cNvPr id="19" name="Text 8"/>
          <p:cNvSpPr/>
          <p:nvPr/>
        </p:nvSpPr>
        <p:spPr>
          <a:xfrm>
            <a:off x="1003300" y="3547467"/>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Open WebUI v0.11.4 · :3000</a:t>
            </a:r>
            <a:endParaRPr lang="en-US" sz="1200" dirty="0"/>
          </a:p>
        </p:txBody>
      </p:sp>
      <p:sp>
        <p:nvSpPr>
          <p:cNvPr id="20" name="Shape 9"/>
          <p:cNvSpPr/>
          <p:nvPr/>
        </p:nvSpPr>
        <p:spPr>
          <a:xfrm>
            <a:off x="6750050" y="3083917"/>
            <a:ext cx="2908300" cy="876300"/>
          </a:xfrm>
          <a:prstGeom prst="roundRect">
            <a:avLst>
              <a:gd name="adj" fmla="val 9420"/>
            </a:avLst>
          </a:prstGeom>
          <a:solidFill>
            <a:srgbClr val="DCEAFB"/>
          </a:solidFill>
          <a:ln w="12700">
            <a:solidFill>
              <a:srgbClr val="0E2A47"/>
            </a:solidFill>
            <a:prstDash val="solid"/>
          </a:ln>
        </p:spPr>
        <p:txBody>
          <a:bodyPr/>
          <a:lstStyle/>
          <a:p>
            <a:endParaRPr lang="fr-FR"/>
          </a:p>
        </p:txBody>
      </p:sp>
      <p:pic>
        <p:nvPicPr>
          <p:cNvPr id="21" name="Image 9" descr="Globe"/>
          <p:cNvPicPr>
            <a:picLocks noChangeAspect="1"/>
          </p:cNvPicPr>
          <p:nvPr/>
        </p:nvPicPr>
        <p:blipFill>
          <a:blip r:embed="rId8"/>
          <a:srcRect/>
          <a:stretch/>
        </p:blipFill>
        <p:spPr>
          <a:xfrm>
            <a:off x="6934200" y="3242667"/>
            <a:ext cx="254000" cy="254000"/>
          </a:xfrm>
          <a:prstGeom prst="rect">
            <a:avLst/>
          </a:prstGeom>
        </p:spPr>
      </p:pic>
      <p:sp>
        <p:nvSpPr>
          <p:cNvPr id="22" name="Text 10"/>
          <p:cNvSpPr/>
          <p:nvPr/>
        </p:nvSpPr>
        <p:spPr>
          <a:xfrm>
            <a:off x="7264400" y="3247727"/>
            <a:ext cx="102500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Tenant B</a:t>
            </a:r>
            <a:endParaRPr lang="en-US" sz="1600" dirty="0"/>
          </a:p>
        </p:txBody>
      </p:sp>
      <p:sp>
        <p:nvSpPr>
          <p:cNvPr id="23" name="Text 11"/>
          <p:cNvSpPr/>
          <p:nvPr/>
        </p:nvSpPr>
        <p:spPr>
          <a:xfrm>
            <a:off x="6934200" y="3547467"/>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Open WebUI v0.11.4 · :3001</a:t>
            </a:r>
            <a:endParaRPr lang="en-US" sz="1200" dirty="0"/>
          </a:p>
        </p:txBody>
      </p:sp>
      <p:pic>
        <p:nvPicPr>
          <p:cNvPr id="24" name="Image 10" descr="Cylindre : volume de données du tenant A"/>
          <p:cNvPicPr>
            <a:picLocks noChangeAspect="1"/>
          </p:cNvPicPr>
          <p:nvPr/>
        </p:nvPicPr>
        <p:blipFill>
          <a:blip r:embed="rId9"/>
          <a:srcRect/>
          <a:stretch/>
        </p:blipFill>
        <p:spPr>
          <a:xfrm>
            <a:off x="4178300" y="3014067"/>
            <a:ext cx="1143000" cy="1016000"/>
          </a:xfrm>
          <a:prstGeom prst="rect">
            <a:avLst/>
          </a:prstGeom>
        </p:spPr>
      </p:pic>
      <p:sp>
        <p:nvSpPr>
          <p:cNvPr id="25" name="Text 12"/>
          <p:cNvSpPr/>
          <p:nvPr/>
        </p:nvSpPr>
        <p:spPr>
          <a:xfrm>
            <a:off x="4152900" y="3458567"/>
            <a:ext cx="1193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E2A47"/>
                </a:solidFill>
                <a:latin typeface="Arial" pitchFamily="34" charset="0"/>
                <a:ea typeface="Arial" pitchFamily="34" charset="-122"/>
                <a:cs typeface="Arial" pitchFamily="34" charset="-120"/>
              </a:rPr>
              <a:t>volume A</a:t>
            </a:r>
            <a:endParaRPr lang="en-US" sz="1200" dirty="0"/>
          </a:p>
        </p:txBody>
      </p:sp>
      <p:pic>
        <p:nvPicPr>
          <p:cNvPr id="26" name="Image 11" descr="Cylindre : volume de données du tenant B"/>
          <p:cNvPicPr>
            <a:picLocks noChangeAspect="1"/>
          </p:cNvPicPr>
          <p:nvPr/>
        </p:nvPicPr>
        <p:blipFill>
          <a:blip r:embed="rId9"/>
          <a:srcRect/>
          <a:stretch/>
        </p:blipFill>
        <p:spPr>
          <a:xfrm>
            <a:off x="10109200" y="3014067"/>
            <a:ext cx="1143000" cy="1016000"/>
          </a:xfrm>
          <a:prstGeom prst="rect">
            <a:avLst/>
          </a:prstGeom>
        </p:spPr>
      </p:pic>
      <p:sp>
        <p:nvSpPr>
          <p:cNvPr id="27" name="Text 13"/>
          <p:cNvSpPr/>
          <p:nvPr/>
        </p:nvSpPr>
        <p:spPr>
          <a:xfrm>
            <a:off x="10083800" y="3458567"/>
            <a:ext cx="1193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E2A47"/>
                </a:solidFill>
                <a:latin typeface="Arial" pitchFamily="34" charset="0"/>
                <a:ea typeface="Arial" pitchFamily="34" charset="-122"/>
                <a:cs typeface="Arial" pitchFamily="34" charset="-120"/>
              </a:rPr>
              <a:t>volume B</a:t>
            </a:r>
            <a:endParaRPr lang="en-US" sz="1200" dirty="0"/>
          </a:p>
        </p:txBody>
      </p:sp>
      <p:sp>
        <p:nvSpPr>
          <p:cNvPr id="28" name="Text 14"/>
          <p:cNvSpPr/>
          <p:nvPr/>
        </p:nvSpPr>
        <p:spPr>
          <a:xfrm>
            <a:off x="5588000" y="3369667"/>
            <a:ext cx="1016000" cy="497681"/>
          </a:xfrm>
          <a:prstGeom prst="rect">
            <a:avLst/>
          </a:prstGeom>
          <a:solidFill>
            <a:srgbClr val="F4F7FB"/>
          </a:solidFill>
          <a:ln/>
        </p:spPr>
        <p:txBody>
          <a:bodyPr wrap="square" lIns="0" tIns="50800" rIns="0" bIns="25400" rtlCol="0" anchor="t">
            <a:normAutofit/>
          </a:bodyPr>
          <a:lstStyle/>
          <a:p>
            <a:pPr marL="0" indent="0" algn="ctr">
              <a:lnSpc>
                <a:spcPts val="1560"/>
              </a:lnSpc>
              <a:buNone/>
            </a:pPr>
            <a:r>
              <a:rPr lang="en-US" sz="1200" b="1" dirty="0">
                <a:solidFill>
                  <a:srgbClr val="B83A30"/>
                </a:solidFill>
                <a:latin typeface="Arial" pitchFamily="34" charset="0"/>
                <a:ea typeface="Arial" pitchFamily="34" charset="-122"/>
                <a:cs typeface="Arial" pitchFamily="34" charset="-120"/>
              </a:rPr>
              <a:t>aucun partage</a:t>
            </a:r>
            <a:endParaRPr lang="en-US" sz="1200" dirty="0"/>
          </a:p>
        </p:txBody>
      </p:sp>
      <p:sp>
        <p:nvSpPr>
          <p:cNvPr id="29" name="Text 15"/>
          <p:cNvSpPr/>
          <p:nvPr/>
        </p:nvSpPr>
        <p:spPr>
          <a:xfrm>
            <a:off x="2400300" y="4233267"/>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Courier New" pitchFamily="49" charset="0"/>
                <a:ea typeface="Courier New" pitchFamily="49" charset="-122"/>
                <a:cs typeface="Courier New" pitchFamily="49" charset="-120"/>
              </a:rPr>
              <a:t>API OpenAI</a:t>
            </a:r>
            <a:endParaRPr lang="en-US" sz="1200" dirty="0"/>
          </a:p>
        </p:txBody>
      </p:sp>
      <p:sp>
        <p:nvSpPr>
          <p:cNvPr id="30" name="Text 16"/>
          <p:cNvSpPr/>
          <p:nvPr/>
        </p:nvSpPr>
        <p:spPr>
          <a:xfrm>
            <a:off x="8331200" y="4233267"/>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Courier New" pitchFamily="49" charset="0"/>
                <a:ea typeface="Courier New" pitchFamily="49" charset="-122"/>
                <a:cs typeface="Courier New" pitchFamily="49" charset="-120"/>
              </a:rPr>
              <a:t>API OpenAI</a:t>
            </a:r>
            <a:endParaRPr lang="en-US" sz="1200" dirty="0"/>
          </a:p>
        </p:txBody>
      </p:sp>
      <p:sp>
        <p:nvSpPr>
          <p:cNvPr id="31" name="Shape 17"/>
          <p:cNvSpPr/>
          <p:nvPr/>
        </p:nvSpPr>
        <p:spPr>
          <a:xfrm>
            <a:off x="812800" y="4728567"/>
            <a:ext cx="10566400" cy="635000"/>
          </a:xfrm>
          <a:prstGeom prst="roundRect">
            <a:avLst>
              <a:gd name="adj" fmla="val 50000"/>
            </a:avLst>
          </a:prstGeom>
          <a:solidFill>
            <a:srgbClr val="0E2A47"/>
          </a:solidFill>
          <a:ln/>
        </p:spPr>
        <p:txBody>
          <a:bodyPr/>
          <a:lstStyle/>
          <a:p>
            <a:endParaRPr lang="fr-FR"/>
          </a:p>
        </p:txBody>
      </p:sp>
      <p:pic>
        <p:nvPicPr>
          <p:cNvPr id="32" name="Image 12" descr="Lightning"/>
          <p:cNvPicPr>
            <a:picLocks noChangeAspect="1"/>
          </p:cNvPicPr>
          <p:nvPr/>
        </p:nvPicPr>
        <p:blipFill>
          <a:blip r:embed="rId10"/>
          <a:srcRect/>
          <a:stretch/>
        </p:blipFill>
        <p:spPr>
          <a:xfrm>
            <a:off x="2694781" y="4919067"/>
            <a:ext cx="254000" cy="254000"/>
          </a:xfrm>
          <a:prstGeom prst="rect">
            <a:avLst/>
          </a:prstGeom>
        </p:spPr>
      </p:pic>
      <p:sp>
        <p:nvSpPr>
          <p:cNvPr id="33" name="Text 18"/>
          <p:cNvSpPr/>
          <p:nvPr/>
        </p:nvSpPr>
        <p:spPr>
          <a:xfrm>
            <a:off x="3050381" y="4912717"/>
            <a:ext cx="773620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4F7FB"/>
                </a:solidFill>
                <a:latin typeface="Arial" pitchFamily="34" charset="0"/>
                <a:ea typeface="Arial" pitchFamily="34" charset="-122"/>
                <a:cs typeface="Arial" pitchFamily="34" charset="-120"/>
              </a:rPr>
              <a:t>mock-llm :11500 · commun aux deux tenants · chat, embeddings, outils</a:t>
            </a:r>
            <a:endParaRPr lang="en-US" sz="1500" dirty="0"/>
          </a:p>
        </p:txBody>
      </p:sp>
      <p:sp>
        <p:nvSpPr>
          <p:cNvPr id="34" name="Text 19"/>
          <p:cNvSpPr/>
          <p:nvPr/>
        </p:nvSpPr>
        <p:spPr>
          <a:xfrm>
            <a:off x="812800" y="5617567"/>
            <a:ext cx="10883392" cy="249833"/>
          </a:xfrm>
          <a:prstGeom prst="rect">
            <a:avLst/>
          </a:prstGeom>
          <a:noFill/>
          <a:ln/>
        </p:spPr>
        <p:txBody>
          <a:bodyPr wrap="square" lIns="0" tIns="0" rIns="0" bIns="0" rtlCol="0" anchor="t">
            <a:normAutofit/>
          </a:bodyPr>
          <a:lstStyle/>
          <a:p>
            <a:pPr marL="0" indent="0" algn="l">
              <a:lnSpc>
                <a:spcPts val="1770"/>
              </a:lnSpc>
              <a:buNone/>
            </a:pPr>
            <a:r>
              <a:rPr lang="en-US" sz="1264" dirty="0">
                <a:solidFill>
                  <a:srgbClr val="3E5068"/>
                </a:solidFill>
                <a:latin typeface="Arial" pitchFamily="34" charset="0"/>
                <a:ea typeface="Arial" pitchFamily="34" charset="-122"/>
                <a:cs typeface="Arial" pitchFamily="34" charset="-120"/>
              </a:rPr>
              <a:t>Docker Compose · </a:t>
            </a:r>
            <a:r>
              <a:rPr lang="en-US" sz="1264" b="1" dirty="0">
                <a:solidFill>
                  <a:srgbClr val="0E2A47"/>
                </a:solidFill>
                <a:latin typeface="Arial" pitchFamily="34" charset="0"/>
                <a:ea typeface="Arial" pitchFamily="34" charset="-122"/>
                <a:cs typeface="Arial" pitchFamily="34" charset="-120"/>
              </a:rPr>
              <a:t>aucune clé API, aucun GPU</a:t>
            </a:r>
            <a:r>
              <a:rPr lang="en-US" sz="1264" dirty="0">
                <a:solidFill>
                  <a:srgbClr val="3E5068"/>
                </a:solidFill>
                <a:latin typeface="Arial" pitchFamily="34" charset="0"/>
                <a:ea typeface="Arial" pitchFamily="34" charset="-122"/>
                <a:cs typeface="Arial" pitchFamily="34" charset="-120"/>
              </a:rPr>
              <a:t> · simulation locale, pas de production</a:t>
            </a:r>
            <a:endParaRPr lang="en-US" sz="1264" dirty="0"/>
          </a:p>
        </p:txBody>
      </p:sp>
      <p:sp>
        <p:nvSpPr>
          <p:cNvPr id="35"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7785"/>
          </a:xfrm>
          <a:prstGeom prst="rect">
            <a:avLst/>
          </a:prstGeom>
          <a:noFill/>
          <a:ln/>
        </p:spPr>
        <p:txBody>
          <a:bodyPr wrap="square" lIns="0" tIns="0" rIns="0" bIns="0" rtlCol="0" anchor="t">
            <a:normAutofit/>
          </a:bodyPr>
          <a:lstStyle/>
          <a:p>
            <a:pPr marL="0" indent="0" algn="l">
              <a:lnSpc>
                <a:spcPts val="1523"/>
              </a:lnSpc>
              <a:buNone/>
            </a:pPr>
            <a:r>
              <a:rPr lang="en-US" sz="1088" kern="0" spc="100" dirty="0">
                <a:solidFill>
                  <a:srgbClr val="2563B8"/>
                </a:solidFill>
                <a:latin typeface="Courier New" pitchFamily="49" charset="0"/>
                <a:ea typeface="Courier New" pitchFamily="49" charset="-122"/>
                <a:cs typeface="Courier New" pitchFamily="49" charset="-120"/>
              </a:rPr>
              <a:t>LE MOCK LLM</a:t>
            </a:r>
            <a:endParaRPr lang="en-US" sz="1088" dirty="0"/>
          </a:p>
        </p:txBody>
      </p:sp>
      <p:sp>
        <p:nvSpPr>
          <p:cNvPr id="3" name="Text 1"/>
          <p:cNvSpPr>
            <a:spLocks noGrp="1"/>
          </p:cNvSpPr>
          <p:nvPr>
            <p:ph type="title"/>
          </p:nvPr>
        </p:nvSpPr>
        <p:spPr>
          <a:xfrm>
            <a:off x="812800" y="1259185"/>
            <a:ext cx="10883392" cy="446782"/>
          </a:xfrm>
          <a:prstGeom prst="rect">
            <a:avLst/>
          </a:prstGeom>
          <a:noFill/>
          <a:ln/>
        </p:spPr>
        <p:txBody>
          <a:bodyPr wrap="square" lIns="0" tIns="0" rIns="0" bIns="0" rtlCol="0" anchor="t">
            <a:normAutofit/>
          </a:bodyPr>
          <a:lstStyle/>
          <a:p>
            <a:pPr marL="0" indent="0" algn="l">
              <a:lnSpc>
                <a:spcPts val="3323"/>
              </a:lnSpc>
              <a:buNone/>
            </a:pPr>
            <a:r>
              <a:rPr lang="en-US" sz="2890" b="1" i="0" dirty="0">
                <a:solidFill>
                  <a:srgbClr val="0E2A47"/>
                </a:solidFill>
                <a:latin typeface="Arial" pitchFamily="34" charset="0"/>
                <a:ea typeface="Arial" pitchFamily="34" charset="-122"/>
                <a:cs typeface="Arial" pitchFamily="34" charset="-120"/>
              </a:rPr>
              <a:t>Un LLM simulé : même entrée, même réponse</a:t>
            </a:r>
            <a:endParaRPr lang="en-US" sz="2890" dirty="0"/>
          </a:p>
        </p:txBody>
      </p:sp>
      <p:pic>
        <p:nvPicPr>
          <p:cNvPr id="4" name="Image 0" descr="connector"/>
          <p:cNvPicPr>
            <a:picLocks noChangeAspect="1"/>
          </p:cNvPicPr>
          <p:nvPr/>
        </p:nvPicPr>
        <p:blipFill>
          <a:blip r:embed="rId3"/>
          <a:srcRect/>
          <a:stretch/>
        </p:blipFill>
        <p:spPr>
          <a:xfrm>
            <a:off x="3175000" y="3598267"/>
            <a:ext cx="1117600" cy="101600"/>
          </a:xfrm>
          <a:prstGeom prst="rect">
            <a:avLst/>
          </a:prstGeom>
        </p:spPr>
      </p:pic>
      <p:pic>
        <p:nvPicPr>
          <p:cNvPr id="5" name="Image 1" descr="connector"/>
          <p:cNvPicPr>
            <a:picLocks noChangeAspect="1"/>
          </p:cNvPicPr>
          <p:nvPr/>
        </p:nvPicPr>
        <p:blipFill>
          <a:blip r:embed="rId4"/>
          <a:srcRect/>
          <a:stretch/>
        </p:blipFill>
        <p:spPr>
          <a:xfrm>
            <a:off x="6477000" y="2213967"/>
            <a:ext cx="1244600" cy="1358900"/>
          </a:xfrm>
          <a:prstGeom prst="rect">
            <a:avLst/>
          </a:prstGeom>
        </p:spPr>
      </p:pic>
      <p:pic>
        <p:nvPicPr>
          <p:cNvPr id="6" name="Image 2" descr="connector"/>
          <p:cNvPicPr>
            <a:picLocks noChangeAspect="1"/>
          </p:cNvPicPr>
          <p:nvPr/>
        </p:nvPicPr>
        <p:blipFill>
          <a:blip r:embed="rId5"/>
          <a:srcRect/>
          <a:stretch/>
        </p:blipFill>
        <p:spPr>
          <a:xfrm>
            <a:off x="6477000" y="3134717"/>
            <a:ext cx="1244600" cy="514350"/>
          </a:xfrm>
          <a:prstGeom prst="rect">
            <a:avLst/>
          </a:prstGeom>
        </p:spPr>
      </p:pic>
      <p:pic>
        <p:nvPicPr>
          <p:cNvPr id="7" name="Image 3" descr="connector"/>
          <p:cNvPicPr>
            <a:picLocks noChangeAspect="1"/>
          </p:cNvPicPr>
          <p:nvPr/>
        </p:nvPicPr>
        <p:blipFill>
          <a:blip r:embed="rId6"/>
          <a:srcRect/>
          <a:stretch/>
        </p:blipFill>
        <p:spPr>
          <a:xfrm>
            <a:off x="6477000" y="3649067"/>
            <a:ext cx="1244600" cy="508000"/>
          </a:xfrm>
          <a:prstGeom prst="rect">
            <a:avLst/>
          </a:prstGeom>
        </p:spPr>
      </p:pic>
      <p:pic>
        <p:nvPicPr>
          <p:cNvPr id="8" name="Image 4" descr="connector"/>
          <p:cNvPicPr>
            <a:picLocks noChangeAspect="1"/>
          </p:cNvPicPr>
          <p:nvPr/>
        </p:nvPicPr>
        <p:blipFill>
          <a:blip r:embed="rId7"/>
          <a:srcRect/>
          <a:stretch/>
        </p:blipFill>
        <p:spPr>
          <a:xfrm>
            <a:off x="6477000" y="3725267"/>
            <a:ext cx="1244600" cy="1352550"/>
          </a:xfrm>
          <a:prstGeom prst="rect">
            <a:avLst/>
          </a:prstGeom>
        </p:spPr>
      </p:pic>
      <p:sp>
        <p:nvSpPr>
          <p:cNvPr id="9" name="Shape 2"/>
          <p:cNvSpPr/>
          <p:nvPr/>
        </p:nvSpPr>
        <p:spPr>
          <a:xfrm>
            <a:off x="819150" y="2988667"/>
            <a:ext cx="2400300" cy="1320800"/>
          </a:xfrm>
          <a:prstGeom prst="roundRect">
            <a:avLst>
              <a:gd name="adj" fmla="val 7212"/>
            </a:avLst>
          </a:prstGeom>
          <a:solidFill>
            <a:srgbClr val="DCEAFB"/>
          </a:solidFill>
          <a:ln w="12700">
            <a:solidFill>
              <a:srgbClr val="0E2A47"/>
            </a:solidFill>
            <a:prstDash val="solid"/>
          </a:ln>
        </p:spPr>
        <p:txBody>
          <a:bodyPr/>
          <a:lstStyle/>
          <a:p>
            <a:endParaRPr lang="fr-FR"/>
          </a:p>
        </p:txBody>
      </p:sp>
      <p:pic>
        <p:nvPicPr>
          <p:cNvPr id="10" name="Image 5" descr="Chat"/>
          <p:cNvPicPr>
            <a:picLocks noChangeAspect="1"/>
          </p:cNvPicPr>
          <p:nvPr/>
        </p:nvPicPr>
        <p:blipFill>
          <a:blip r:embed="rId8"/>
          <a:srcRect/>
          <a:stretch/>
        </p:blipFill>
        <p:spPr>
          <a:xfrm>
            <a:off x="1003300" y="3147417"/>
            <a:ext cx="254000" cy="254000"/>
          </a:xfrm>
          <a:prstGeom prst="rect">
            <a:avLst/>
          </a:prstGeom>
        </p:spPr>
      </p:pic>
      <p:sp>
        <p:nvSpPr>
          <p:cNvPr id="11" name="Text 3"/>
          <p:cNvSpPr/>
          <p:nvPr/>
        </p:nvSpPr>
        <p:spPr>
          <a:xfrm>
            <a:off x="1333500" y="3160117"/>
            <a:ext cx="90189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2A47"/>
                </a:solidFill>
                <a:latin typeface="Arial" pitchFamily="34" charset="0"/>
                <a:ea typeface="Arial" pitchFamily="34" charset="-122"/>
                <a:cs typeface="Arial" pitchFamily="34" charset="-120"/>
              </a:rPr>
              <a:t>Requête</a:t>
            </a:r>
            <a:endParaRPr lang="en-US" sz="1500" dirty="0"/>
          </a:p>
        </p:txBody>
      </p:sp>
      <p:sp>
        <p:nvSpPr>
          <p:cNvPr id="12" name="Text 4"/>
          <p:cNvSpPr/>
          <p:nvPr/>
        </p:nvSpPr>
        <p:spPr>
          <a:xfrm>
            <a:off x="1003300" y="3464917"/>
            <a:ext cx="20929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relayée par Open WebUI : question + directive</a:t>
            </a:r>
            <a:endParaRPr lang="en-US" sz="1200" dirty="0"/>
          </a:p>
        </p:txBody>
      </p:sp>
      <p:sp>
        <p:nvSpPr>
          <p:cNvPr id="13" name="Shape 5"/>
          <p:cNvSpPr/>
          <p:nvPr/>
        </p:nvSpPr>
        <p:spPr>
          <a:xfrm>
            <a:off x="4241800" y="2950567"/>
            <a:ext cx="2286000" cy="1397000"/>
          </a:xfrm>
          <a:prstGeom prst="roundRect">
            <a:avLst>
              <a:gd name="adj" fmla="val 7273"/>
            </a:avLst>
          </a:prstGeom>
          <a:solidFill>
            <a:srgbClr val="0E2A47"/>
          </a:solidFill>
          <a:ln/>
        </p:spPr>
        <p:txBody>
          <a:bodyPr/>
          <a:lstStyle/>
          <a:p>
            <a:endParaRPr lang="fr-FR"/>
          </a:p>
        </p:txBody>
      </p:sp>
      <p:pic>
        <p:nvPicPr>
          <p:cNvPr id="14" name="Image 6" descr="Lightning"/>
          <p:cNvPicPr>
            <a:picLocks noChangeAspect="1"/>
          </p:cNvPicPr>
          <p:nvPr/>
        </p:nvPicPr>
        <p:blipFill>
          <a:blip r:embed="rId9"/>
          <a:srcRect/>
          <a:stretch/>
        </p:blipFill>
        <p:spPr>
          <a:xfrm>
            <a:off x="4419600" y="3128367"/>
            <a:ext cx="254000" cy="254000"/>
          </a:xfrm>
          <a:prstGeom prst="rect">
            <a:avLst/>
          </a:prstGeom>
        </p:spPr>
      </p:pic>
      <p:sp>
        <p:nvSpPr>
          <p:cNvPr id="15" name="Text 6"/>
          <p:cNvSpPr/>
          <p:nvPr/>
        </p:nvSpPr>
        <p:spPr>
          <a:xfrm>
            <a:off x="4749800" y="3133427"/>
            <a:ext cx="107049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7FB"/>
                </a:solidFill>
                <a:latin typeface="Arial" pitchFamily="34" charset="0"/>
                <a:ea typeface="Arial" pitchFamily="34" charset="-122"/>
                <a:cs typeface="Arial" pitchFamily="34" charset="-120"/>
              </a:rPr>
              <a:t>mock-llm</a:t>
            </a:r>
            <a:endParaRPr lang="en-US" sz="1600" dirty="0"/>
          </a:p>
        </p:txBody>
      </p:sp>
      <p:sp>
        <p:nvSpPr>
          <p:cNvPr id="16" name="Text 7"/>
          <p:cNvSpPr/>
          <p:nvPr/>
        </p:nvSpPr>
        <p:spPr>
          <a:xfrm>
            <a:off x="4419600" y="3458567"/>
            <a:ext cx="198831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4D6EA"/>
                </a:solidFill>
                <a:latin typeface="Arial" pitchFamily="34" charset="0"/>
                <a:ea typeface="Arial" pitchFamily="34" charset="-122"/>
                <a:cs typeface="Arial" pitchFamily="34" charset="-120"/>
              </a:rPr>
              <a:t>lit la directive [[mock:…]] et répond toujours pareil</a:t>
            </a:r>
            <a:endParaRPr lang="en-US" sz="1200" dirty="0"/>
          </a:p>
        </p:txBody>
      </p:sp>
      <p:sp>
        <p:nvSpPr>
          <p:cNvPr id="17" name="Shape 8"/>
          <p:cNvSpPr/>
          <p:nvPr/>
        </p:nvSpPr>
        <p:spPr>
          <a:xfrm>
            <a:off x="7677150" y="1940917"/>
            <a:ext cx="3695700" cy="654050"/>
          </a:xfrm>
          <a:prstGeom prst="roundRect">
            <a:avLst>
              <a:gd name="adj" fmla="val 12621"/>
            </a:avLst>
          </a:prstGeom>
          <a:solidFill>
            <a:srgbClr val="FBFCFE"/>
          </a:solidFill>
          <a:ln w="12700">
            <a:solidFill>
              <a:srgbClr val="0E2A47"/>
            </a:solidFill>
            <a:prstDash val="solid"/>
          </a:ln>
        </p:spPr>
        <p:txBody>
          <a:bodyPr/>
          <a:lstStyle/>
          <a:p>
            <a:endParaRPr lang="fr-FR"/>
          </a:p>
        </p:txBody>
      </p:sp>
      <p:pic>
        <p:nvPicPr>
          <p:cNvPr id="18" name="Image 7" descr="CheckCircle"/>
          <p:cNvPicPr>
            <a:picLocks noChangeAspect="1"/>
          </p:cNvPicPr>
          <p:nvPr/>
        </p:nvPicPr>
        <p:blipFill>
          <a:blip r:embed="rId10"/>
          <a:srcRect/>
          <a:stretch/>
        </p:blipFill>
        <p:spPr>
          <a:xfrm>
            <a:off x="7810500" y="2128242"/>
            <a:ext cx="279400" cy="279400"/>
          </a:xfrm>
          <a:prstGeom prst="rect">
            <a:avLst/>
          </a:prstGeom>
        </p:spPr>
      </p:pic>
      <p:sp>
        <p:nvSpPr>
          <p:cNvPr id="19" name="Text 9"/>
          <p:cNvSpPr/>
          <p:nvPr/>
        </p:nvSpPr>
        <p:spPr>
          <a:xfrm>
            <a:off x="8191500" y="2048272"/>
            <a:ext cx="188397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Écho déterministe</a:t>
            </a:r>
            <a:endParaRPr lang="en-US" sz="1400" dirty="0"/>
          </a:p>
        </p:txBody>
      </p:sp>
      <p:sp>
        <p:nvSpPr>
          <p:cNvPr id="20" name="Text 10"/>
          <p:cNvSpPr/>
          <p:nvPr/>
        </p:nvSpPr>
        <p:spPr>
          <a:xfrm>
            <a:off x="8191500" y="2274292"/>
            <a:ext cx="21949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Courier New" pitchFamily="49" charset="0"/>
                <a:ea typeface="Courier New" pitchFamily="49" charset="-122"/>
                <a:cs typeface="Courier New" pitchFamily="49" charset="-120"/>
              </a:rPr>
              <a:t>MOCK-ECHO, mot à mot</a:t>
            </a:r>
            <a:endParaRPr lang="en-US" sz="1200" dirty="0"/>
          </a:p>
        </p:txBody>
      </p:sp>
      <p:sp>
        <p:nvSpPr>
          <p:cNvPr id="21" name="Shape 11"/>
          <p:cNvSpPr/>
          <p:nvPr/>
        </p:nvSpPr>
        <p:spPr>
          <a:xfrm>
            <a:off x="7677150" y="2861667"/>
            <a:ext cx="3695700" cy="654050"/>
          </a:xfrm>
          <a:prstGeom prst="roundRect">
            <a:avLst>
              <a:gd name="adj" fmla="val 12621"/>
            </a:avLst>
          </a:prstGeom>
          <a:solidFill>
            <a:srgbClr val="FBE6E4"/>
          </a:solidFill>
          <a:ln w="12700">
            <a:solidFill>
              <a:srgbClr val="B83A30"/>
            </a:solidFill>
            <a:prstDash val="solid"/>
          </a:ln>
        </p:spPr>
        <p:txBody>
          <a:bodyPr/>
          <a:lstStyle/>
          <a:p>
            <a:endParaRPr lang="fr-FR"/>
          </a:p>
        </p:txBody>
      </p:sp>
      <p:pic>
        <p:nvPicPr>
          <p:cNvPr id="22" name="Image 8" descr="Warning"/>
          <p:cNvPicPr>
            <a:picLocks noChangeAspect="1"/>
          </p:cNvPicPr>
          <p:nvPr/>
        </p:nvPicPr>
        <p:blipFill>
          <a:blip r:embed="rId11"/>
          <a:srcRect/>
          <a:stretch/>
        </p:blipFill>
        <p:spPr>
          <a:xfrm>
            <a:off x="7810500" y="3048992"/>
            <a:ext cx="279400" cy="279400"/>
          </a:xfrm>
          <a:prstGeom prst="rect">
            <a:avLst/>
          </a:prstGeom>
        </p:spPr>
      </p:pic>
      <p:sp>
        <p:nvSpPr>
          <p:cNvPr id="23" name="Text 12"/>
          <p:cNvSpPr/>
          <p:nvPr/>
        </p:nvSpPr>
        <p:spPr>
          <a:xfrm>
            <a:off x="8191500" y="2969022"/>
            <a:ext cx="235498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Erreur simulée</a:t>
            </a:r>
            <a:endParaRPr lang="en-US" sz="1400" dirty="0"/>
          </a:p>
        </p:txBody>
      </p:sp>
      <p:sp>
        <p:nvSpPr>
          <p:cNvPr id="24" name="Text 13"/>
          <p:cNvSpPr/>
          <p:nvPr/>
        </p:nvSpPr>
        <p:spPr>
          <a:xfrm>
            <a:off x="8191500" y="3195042"/>
            <a:ext cx="27436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Courier New" pitchFamily="49" charset="0"/>
                <a:ea typeface="Courier New" pitchFamily="49" charset="-122"/>
                <a:cs typeface="Courier New" pitchFamily="49" charset="-120"/>
              </a:rPr>
              <a:t>[[mock:error]] → HTTP 500</a:t>
            </a:r>
            <a:endParaRPr lang="en-US" sz="1200" dirty="0"/>
          </a:p>
        </p:txBody>
      </p:sp>
      <p:sp>
        <p:nvSpPr>
          <p:cNvPr id="25" name="Shape 14"/>
          <p:cNvSpPr/>
          <p:nvPr/>
        </p:nvSpPr>
        <p:spPr>
          <a:xfrm>
            <a:off x="7677150" y="3782417"/>
            <a:ext cx="3695700" cy="654050"/>
          </a:xfrm>
          <a:prstGeom prst="roundRect">
            <a:avLst>
              <a:gd name="adj" fmla="val 12621"/>
            </a:avLst>
          </a:prstGeom>
          <a:solidFill>
            <a:srgbClr val="FBFCFE"/>
          </a:solidFill>
          <a:ln w="12700">
            <a:solidFill>
              <a:srgbClr val="0E2A47"/>
            </a:solidFill>
            <a:prstDash val="solid"/>
          </a:ln>
        </p:spPr>
        <p:txBody>
          <a:bodyPr/>
          <a:lstStyle/>
          <a:p>
            <a:endParaRPr lang="fr-FR"/>
          </a:p>
        </p:txBody>
      </p:sp>
      <p:pic>
        <p:nvPicPr>
          <p:cNvPr id="26" name="Image 9" descr="Book"/>
          <p:cNvPicPr>
            <a:picLocks noChangeAspect="1"/>
          </p:cNvPicPr>
          <p:nvPr/>
        </p:nvPicPr>
        <p:blipFill>
          <a:blip r:embed="rId12"/>
          <a:srcRect/>
          <a:stretch/>
        </p:blipFill>
        <p:spPr>
          <a:xfrm>
            <a:off x="7810500" y="3969742"/>
            <a:ext cx="279400" cy="279400"/>
          </a:xfrm>
          <a:prstGeom prst="rect">
            <a:avLst/>
          </a:prstGeom>
        </p:spPr>
      </p:pic>
      <p:sp>
        <p:nvSpPr>
          <p:cNvPr id="27" name="Text 15"/>
          <p:cNvSpPr/>
          <p:nvPr/>
        </p:nvSpPr>
        <p:spPr>
          <a:xfrm>
            <a:off x="8191500" y="3889772"/>
            <a:ext cx="178984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Réponse RAG</a:t>
            </a:r>
            <a:endParaRPr lang="en-US" sz="1400" dirty="0"/>
          </a:p>
        </p:txBody>
      </p:sp>
      <p:sp>
        <p:nvSpPr>
          <p:cNvPr id="28" name="Text 16"/>
          <p:cNvSpPr/>
          <p:nvPr/>
        </p:nvSpPr>
        <p:spPr>
          <a:xfrm>
            <a:off x="8191500" y="4115792"/>
            <a:ext cx="20852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Courier New" pitchFamily="49" charset="0"/>
                <a:ea typeface="Courier New" pitchFamily="49" charset="-122"/>
                <a:cs typeface="Courier New" pitchFamily="49" charset="-120"/>
              </a:rPr>
              <a:t>contexte → MOCK-RAG</a:t>
            </a:r>
            <a:endParaRPr lang="en-US" sz="1200" dirty="0"/>
          </a:p>
        </p:txBody>
      </p:sp>
      <p:sp>
        <p:nvSpPr>
          <p:cNvPr id="29" name="Shape 17"/>
          <p:cNvSpPr/>
          <p:nvPr/>
        </p:nvSpPr>
        <p:spPr>
          <a:xfrm>
            <a:off x="7677150" y="4703167"/>
            <a:ext cx="3695700" cy="654050"/>
          </a:xfrm>
          <a:prstGeom prst="roundRect">
            <a:avLst>
              <a:gd name="adj" fmla="val 12621"/>
            </a:avLst>
          </a:prstGeom>
          <a:solidFill>
            <a:srgbClr val="FBFCFE"/>
          </a:solidFill>
          <a:ln w="12700">
            <a:solidFill>
              <a:srgbClr val="0E2A47"/>
            </a:solidFill>
            <a:prstDash val="solid"/>
          </a:ln>
        </p:spPr>
        <p:txBody>
          <a:bodyPr/>
          <a:lstStyle/>
          <a:p>
            <a:endParaRPr lang="fr-FR"/>
          </a:p>
        </p:txBody>
      </p:sp>
      <p:pic>
        <p:nvPicPr>
          <p:cNvPr id="30" name="Image 10" descr="Wrench"/>
          <p:cNvPicPr>
            <a:picLocks noChangeAspect="1"/>
          </p:cNvPicPr>
          <p:nvPr/>
        </p:nvPicPr>
        <p:blipFill>
          <a:blip r:embed="rId13"/>
          <a:srcRect/>
          <a:stretch/>
        </p:blipFill>
        <p:spPr>
          <a:xfrm>
            <a:off x="7810500" y="4890492"/>
            <a:ext cx="279400" cy="279400"/>
          </a:xfrm>
          <a:prstGeom prst="rect">
            <a:avLst/>
          </a:prstGeom>
        </p:spPr>
      </p:pic>
      <p:sp>
        <p:nvSpPr>
          <p:cNvPr id="31" name="Text 18"/>
          <p:cNvSpPr/>
          <p:nvPr/>
        </p:nvSpPr>
        <p:spPr>
          <a:xfrm>
            <a:off x="8191500" y="4810522"/>
            <a:ext cx="216664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Appel d’outil</a:t>
            </a:r>
            <a:endParaRPr lang="en-US" sz="1400" dirty="0"/>
          </a:p>
        </p:txBody>
      </p:sp>
      <p:sp>
        <p:nvSpPr>
          <p:cNvPr id="32" name="Text 19"/>
          <p:cNvSpPr/>
          <p:nvPr/>
        </p:nvSpPr>
        <p:spPr>
          <a:xfrm>
            <a:off x="8191500" y="5036542"/>
            <a:ext cx="25242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Courier New" pitchFamily="49" charset="0"/>
                <a:ea typeface="Courier New" pitchFamily="49" charset="-122"/>
                <a:cs typeface="Courier New" pitchFamily="49" charset="-120"/>
              </a:rPr>
              <a:t>[[mock:tool=ID]] → reçu</a:t>
            </a:r>
            <a:endParaRPr lang="en-US" sz="1200" dirty="0"/>
          </a:p>
        </p:txBody>
      </p:sp>
      <p:sp>
        <p:nvSpPr>
          <p:cNvPr id="33" name="Text 20"/>
          <p:cNvSpPr/>
          <p:nvPr/>
        </p:nvSpPr>
        <p:spPr>
          <a:xfrm>
            <a:off x="812800" y="5617567"/>
            <a:ext cx="10883392" cy="249833"/>
          </a:xfrm>
          <a:prstGeom prst="rect">
            <a:avLst/>
          </a:prstGeom>
          <a:noFill/>
          <a:ln/>
        </p:spPr>
        <p:txBody>
          <a:bodyPr wrap="square" lIns="0" tIns="0" rIns="0" bIns="0" rtlCol="0" anchor="t">
            <a:normAutofit/>
          </a:bodyPr>
          <a:lstStyle/>
          <a:p>
            <a:pPr marL="0" indent="0" algn="l">
              <a:lnSpc>
                <a:spcPts val="1770"/>
              </a:lnSpc>
              <a:buNone/>
            </a:pPr>
            <a:r>
              <a:rPr lang="en-US" sz="1264" dirty="0">
                <a:solidFill>
                  <a:srgbClr val="3E5068"/>
                </a:solidFill>
                <a:latin typeface="Arial" pitchFamily="34" charset="0"/>
                <a:ea typeface="Arial" pitchFamily="34" charset="-122"/>
                <a:cs typeface="Arial" pitchFamily="34" charset="-120"/>
              </a:rPr>
              <a:t>Aussi : débit irrégulier [[mock:jitter=MS]] · latence · embeddings simulés (dim. 256)</a:t>
            </a:r>
            <a:endParaRPr lang="en-US" sz="1264" dirty="0"/>
          </a:p>
        </p:txBody>
      </p:sp>
      <p:sp>
        <p:nvSpPr>
          <p:cNvPr id="34" name="Text 2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FIXTURES ISOLÉES</a:t>
            </a:r>
            <a:endParaRPr lang="en-US" sz="1200" dirty="0"/>
          </a:p>
        </p:txBody>
      </p:sp>
      <p:sp>
        <p:nvSpPr>
          <p:cNvPr id="3" name="Text 1"/>
          <p:cNvSpPr>
            <a:spLocks noGrp="1"/>
          </p:cNvSpPr>
          <p:nvPr>
            <p:ph type="title"/>
          </p:nvPr>
        </p:nvSpPr>
        <p:spPr>
          <a:xfrm>
            <a:off x="812800" y="12039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Cycle de vie d’un test et de ses fixtures</a:t>
            </a:r>
            <a:endParaRPr lang="en-US" sz="3200" dirty="0"/>
          </a:p>
        </p:txBody>
      </p:sp>
      <p:sp>
        <p:nvSpPr>
          <p:cNvPr id="4" name="Text 2"/>
          <p:cNvSpPr/>
          <p:nvPr/>
        </p:nvSpPr>
        <p:spPr>
          <a:xfrm>
            <a:off x="650382" y="1868091"/>
            <a:ext cx="3543300" cy="2400300"/>
          </a:xfrm>
          <a:prstGeom prst="roundRect">
            <a:avLst>
              <a:gd name="adj" fmla="val 3968"/>
            </a:avLst>
          </a:prstGeom>
          <a:solidFill>
            <a:srgbClr val="FDFEFF"/>
          </a:solidFill>
          <a:ln w="12700">
            <a:solidFill>
              <a:srgbClr val="2563B8"/>
            </a:solidFill>
            <a:prstDash val="solid"/>
          </a:ln>
        </p:spPr>
        <p:txBody>
          <a:bodyPr wrap="square" lIns="130852" tIns="54652" rIns="34078" bIns="54652" rtlCol="0" anchor="t">
            <a:normAutofit/>
          </a:bodyPr>
          <a:lstStyle/>
          <a:p>
            <a:pPr marL="0" indent="0" algn="l">
              <a:lnSpc>
                <a:spcPts val="1820"/>
              </a:lnSpc>
              <a:buNone/>
            </a:pPr>
            <a:r>
              <a:rPr lang="en-US" sz="1300" b="1" dirty="0">
                <a:solidFill>
                  <a:srgbClr val="2563B8"/>
                </a:solidFill>
                <a:latin typeface="Arial" pitchFamily="34" charset="0"/>
                <a:ea typeface="Arial" pitchFamily="34" charset="-122"/>
                <a:cs typeface="Arial" pitchFamily="34" charset="-120"/>
              </a:rPr>
              <a:t>Test Playwright</a:t>
            </a:r>
            <a:endParaRPr lang="en-US" sz="1300" dirty="0"/>
          </a:p>
        </p:txBody>
      </p:sp>
      <p:pic>
        <p:nvPicPr>
          <p:cNvPr id="5" name="Image 0" descr="connector"/>
          <p:cNvPicPr>
            <a:picLocks noChangeAspect="1"/>
          </p:cNvPicPr>
          <p:nvPr/>
        </p:nvPicPr>
        <p:blipFill>
          <a:blip r:embed="rId3"/>
          <a:srcRect/>
          <a:stretch/>
        </p:blipFill>
        <p:spPr>
          <a:xfrm>
            <a:off x="4127500" y="2357041"/>
            <a:ext cx="1562100" cy="177800"/>
          </a:xfrm>
          <a:prstGeom prst="rect">
            <a:avLst/>
          </a:prstGeom>
        </p:spPr>
      </p:pic>
      <p:pic>
        <p:nvPicPr>
          <p:cNvPr id="6" name="Image 1" descr="connector"/>
          <p:cNvPicPr>
            <a:picLocks noChangeAspect="1"/>
          </p:cNvPicPr>
          <p:nvPr/>
        </p:nvPicPr>
        <p:blipFill>
          <a:blip r:embed="rId4"/>
          <a:srcRect/>
          <a:stretch/>
        </p:blipFill>
        <p:spPr>
          <a:xfrm>
            <a:off x="4127500" y="2852341"/>
            <a:ext cx="1562100" cy="127000"/>
          </a:xfrm>
          <a:prstGeom prst="rect">
            <a:avLst/>
          </a:prstGeom>
        </p:spPr>
      </p:pic>
      <p:pic>
        <p:nvPicPr>
          <p:cNvPr id="7" name="Image 2" descr="connector"/>
          <p:cNvPicPr>
            <a:picLocks noChangeAspect="1"/>
          </p:cNvPicPr>
          <p:nvPr/>
        </p:nvPicPr>
        <p:blipFill>
          <a:blip r:embed="rId5"/>
          <a:srcRect/>
          <a:stretch/>
        </p:blipFill>
        <p:spPr>
          <a:xfrm>
            <a:off x="4127500" y="3347641"/>
            <a:ext cx="1562100" cy="139700"/>
          </a:xfrm>
          <a:prstGeom prst="rect">
            <a:avLst/>
          </a:prstGeom>
        </p:spPr>
      </p:pic>
      <p:pic>
        <p:nvPicPr>
          <p:cNvPr id="8" name="Image 3" descr="connector"/>
          <p:cNvPicPr>
            <a:picLocks noChangeAspect="1"/>
          </p:cNvPicPr>
          <p:nvPr/>
        </p:nvPicPr>
        <p:blipFill>
          <a:blip r:embed="rId6"/>
          <a:srcRect/>
          <a:stretch/>
        </p:blipFill>
        <p:spPr>
          <a:xfrm>
            <a:off x="4127500" y="3830241"/>
            <a:ext cx="1562100" cy="114300"/>
          </a:xfrm>
          <a:prstGeom prst="rect">
            <a:avLst/>
          </a:prstGeom>
        </p:spPr>
      </p:pic>
      <p:pic>
        <p:nvPicPr>
          <p:cNvPr id="9" name="Image 4" descr="connector"/>
          <p:cNvPicPr>
            <a:picLocks noChangeAspect="1"/>
          </p:cNvPicPr>
          <p:nvPr/>
        </p:nvPicPr>
        <p:blipFill>
          <a:blip r:embed="rId7"/>
          <a:srcRect/>
          <a:stretch/>
        </p:blipFill>
        <p:spPr>
          <a:xfrm>
            <a:off x="8255000" y="3068241"/>
            <a:ext cx="990600" cy="101600"/>
          </a:xfrm>
          <a:prstGeom prst="rect">
            <a:avLst/>
          </a:prstGeom>
        </p:spPr>
      </p:pic>
      <p:sp>
        <p:nvSpPr>
          <p:cNvPr id="10" name="Shape 3"/>
          <p:cNvSpPr/>
          <p:nvPr/>
        </p:nvSpPr>
        <p:spPr>
          <a:xfrm>
            <a:off x="1009650" y="2210991"/>
            <a:ext cx="3162300" cy="393700"/>
          </a:xfrm>
          <a:prstGeom prst="roundRect">
            <a:avLst>
              <a:gd name="adj" fmla="val 14516"/>
            </a:avLst>
          </a:prstGeom>
          <a:solidFill>
            <a:srgbClr val="DCEAFB"/>
          </a:solidFill>
          <a:ln w="12700">
            <a:solidFill>
              <a:srgbClr val="0E2A47"/>
            </a:solidFill>
            <a:prstDash val="solid"/>
          </a:ln>
        </p:spPr>
        <p:txBody>
          <a:bodyPr/>
          <a:lstStyle/>
          <a:p>
            <a:endParaRPr lang="fr-FR"/>
          </a:p>
        </p:txBody>
      </p:sp>
      <p:pic>
        <p:nvPicPr>
          <p:cNvPr id="11" name="Image 5" descr="Database"/>
          <p:cNvPicPr>
            <a:picLocks noChangeAspect="1"/>
          </p:cNvPicPr>
          <p:nvPr/>
        </p:nvPicPr>
        <p:blipFill>
          <a:blip r:embed="rId8"/>
          <a:srcRect/>
          <a:stretch/>
        </p:blipFill>
        <p:spPr>
          <a:xfrm>
            <a:off x="1130300" y="2293541"/>
            <a:ext cx="228600" cy="228600"/>
          </a:xfrm>
          <a:prstGeom prst="rect">
            <a:avLst/>
          </a:prstGeom>
        </p:spPr>
      </p:pic>
      <p:sp>
        <p:nvSpPr>
          <p:cNvPr id="12" name="Text 4"/>
          <p:cNvSpPr/>
          <p:nvPr/>
        </p:nvSpPr>
        <p:spPr>
          <a:xfrm>
            <a:off x="1447800" y="2292251"/>
            <a:ext cx="2014299"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E2A47"/>
                </a:solidFill>
                <a:latin typeface="Arial" pitchFamily="34" charset="0"/>
                <a:ea typeface="Arial" pitchFamily="34" charset="-122"/>
                <a:cs typeface="Arial" pitchFamily="34" charset="-120"/>
              </a:rPr>
              <a:t>1 · Création (API, uid)</a:t>
            </a:r>
            <a:endParaRPr lang="en-US" sz="1300" dirty="0"/>
          </a:p>
        </p:txBody>
      </p:sp>
      <p:sp>
        <p:nvSpPr>
          <p:cNvPr id="13" name="Shape 5"/>
          <p:cNvSpPr/>
          <p:nvPr/>
        </p:nvSpPr>
        <p:spPr>
          <a:xfrm>
            <a:off x="1009650" y="2706291"/>
            <a:ext cx="3162300" cy="393700"/>
          </a:xfrm>
          <a:prstGeom prst="roundRect">
            <a:avLst>
              <a:gd name="adj" fmla="val 14516"/>
            </a:avLst>
          </a:prstGeom>
          <a:solidFill>
            <a:srgbClr val="2F63C8"/>
          </a:solidFill>
          <a:ln w="12700">
            <a:solidFill>
              <a:srgbClr val="0E2A47"/>
            </a:solidFill>
            <a:prstDash val="solid"/>
          </a:ln>
        </p:spPr>
        <p:txBody>
          <a:bodyPr/>
          <a:lstStyle/>
          <a:p>
            <a:endParaRPr lang="fr-FR"/>
          </a:p>
        </p:txBody>
      </p:sp>
      <p:pic>
        <p:nvPicPr>
          <p:cNvPr id="14" name="Image 6" descr="Play"/>
          <p:cNvPicPr>
            <a:picLocks noChangeAspect="1"/>
          </p:cNvPicPr>
          <p:nvPr/>
        </p:nvPicPr>
        <p:blipFill>
          <a:blip r:embed="rId9"/>
          <a:srcRect/>
          <a:stretch/>
        </p:blipFill>
        <p:spPr>
          <a:xfrm>
            <a:off x="1130300" y="2788841"/>
            <a:ext cx="228600" cy="228600"/>
          </a:xfrm>
          <a:prstGeom prst="rect">
            <a:avLst/>
          </a:prstGeom>
        </p:spPr>
      </p:pic>
      <p:sp>
        <p:nvSpPr>
          <p:cNvPr id="15" name="Text 6"/>
          <p:cNvSpPr/>
          <p:nvPr/>
        </p:nvSpPr>
        <p:spPr>
          <a:xfrm>
            <a:off x="1447800" y="2787551"/>
            <a:ext cx="230064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7FB"/>
                </a:solidFill>
                <a:latin typeface="Arial" pitchFamily="34" charset="0"/>
                <a:ea typeface="Arial" pitchFamily="34" charset="-122"/>
                <a:cs typeface="Arial" pitchFamily="34" charset="-120"/>
              </a:rPr>
              <a:t>2 · Exécution (UI ou API)</a:t>
            </a:r>
            <a:endParaRPr lang="en-US" sz="1300" dirty="0"/>
          </a:p>
        </p:txBody>
      </p:sp>
      <p:sp>
        <p:nvSpPr>
          <p:cNvPr id="16" name="Shape 7"/>
          <p:cNvSpPr/>
          <p:nvPr/>
        </p:nvSpPr>
        <p:spPr>
          <a:xfrm>
            <a:off x="1009650" y="3201591"/>
            <a:ext cx="3162300" cy="393700"/>
          </a:xfrm>
          <a:prstGeom prst="roundRect">
            <a:avLst>
              <a:gd name="adj" fmla="val 14516"/>
            </a:avLst>
          </a:prstGeom>
          <a:solidFill>
            <a:srgbClr val="A9C7F2"/>
          </a:solidFill>
          <a:ln w="12700">
            <a:solidFill>
              <a:srgbClr val="0E2A47"/>
            </a:solidFill>
            <a:prstDash val="solid"/>
          </a:ln>
        </p:spPr>
        <p:txBody>
          <a:bodyPr/>
          <a:lstStyle/>
          <a:p>
            <a:endParaRPr lang="fr-FR"/>
          </a:p>
        </p:txBody>
      </p:sp>
      <p:pic>
        <p:nvPicPr>
          <p:cNvPr id="17" name="Image 7" descr="CheckCircle"/>
          <p:cNvPicPr>
            <a:picLocks noChangeAspect="1"/>
          </p:cNvPicPr>
          <p:nvPr/>
        </p:nvPicPr>
        <p:blipFill>
          <a:blip r:embed="rId10"/>
          <a:srcRect/>
          <a:stretch/>
        </p:blipFill>
        <p:spPr>
          <a:xfrm>
            <a:off x="1130300" y="3284141"/>
            <a:ext cx="228600" cy="228600"/>
          </a:xfrm>
          <a:prstGeom prst="rect">
            <a:avLst/>
          </a:prstGeom>
        </p:spPr>
      </p:pic>
      <p:sp>
        <p:nvSpPr>
          <p:cNvPr id="18" name="Text 8"/>
          <p:cNvSpPr/>
          <p:nvPr/>
        </p:nvSpPr>
        <p:spPr>
          <a:xfrm>
            <a:off x="1447800" y="3282851"/>
            <a:ext cx="213598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E2A47"/>
                </a:solidFill>
                <a:latin typeface="Arial" pitchFamily="34" charset="0"/>
                <a:ea typeface="Arial" pitchFamily="34" charset="-122"/>
                <a:cs typeface="Arial" pitchFamily="34" charset="-120"/>
              </a:rPr>
              <a:t>3 · Vérification (assert)</a:t>
            </a:r>
            <a:endParaRPr lang="en-US" sz="1300" dirty="0"/>
          </a:p>
        </p:txBody>
      </p:sp>
      <p:sp>
        <p:nvSpPr>
          <p:cNvPr id="19" name="Shape 9"/>
          <p:cNvSpPr/>
          <p:nvPr/>
        </p:nvSpPr>
        <p:spPr>
          <a:xfrm>
            <a:off x="1009650" y="3696891"/>
            <a:ext cx="3162300" cy="393700"/>
          </a:xfrm>
          <a:prstGeom prst="roundRect">
            <a:avLst>
              <a:gd name="adj" fmla="val 14516"/>
            </a:avLst>
          </a:prstGeom>
          <a:solidFill>
            <a:srgbClr val="0E2A47"/>
          </a:solidFill>
          <a:ln w="12700">
            <a:solidFill>
              <a:srgbClr val="0E2A47"/>
            </a:solidFill>
            <a:prstDash val="solid"/>
          </a:ln>
        </p:spPr>
        <p:txBody>
          <a:bodyPr/>
          <a:lstStyle/>
          <a:p>
            <a:endParaRPr lang="fr-FR"/>
          </a:p>
        </p:txBody>
      </p:sp>
      <p:pic>
        <p:nvPicPr>
          <p:cNvPr id="20" name="Image 8" descr="Settings"/>
          <p:cNvPicPr>
            <a:picLocks noChangeAspect="1"/>
          </p:cNvPicPr>
          <p:nvPr/>
        </p:nvPicPr>
        <p:blipFill>
          <a:blip r:embed="rId11"/>
          <a:srcRect/>
          <a:stretch/>
        </p:blipFill>
        <p:spPr>
          <a:xfrm>
            <a:off x="1130300" y="3779441"/>
            <a:ext cx="228600" cy="228600"/>
          </a:xfrm>
          <a:prstGeom prst="rect">
            <a:avLst/>
          </a:prstGeom>
        </p:spPr>
      </p:pic>
      <p:sp>
        <p:nvSpPr>
          <p:cNvPr id="21" name="Text 10"/>
          <p:cNvSpPr/>
          <p:nvPr/>
        </p:nvSpPr>
        <p:spPr>
          <a:xfrm>
            <a:off x="1447800" y="3778151"/>
            <a:ext cx="247697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7FB"/>
                </a:solidFill>
                <a:latin typeface="Arial" pitchFamily="34" charset="0"/>
                <a:ea typeface="Arial" pitchFamily="34" charset="-122"/>
                <a:cs typeface="Arial" pitchFamily="34" charset="-120"/>
              </a:rPr>
              <a:t>4 · Nettoyage automatique</a:t>
            </a:r>
            <a:endParaRPr lang="en-US" sz="1300" dirty="0"/>
          </a:p>
        </p:txBody>
      </p:sp>
      <p:sp>
        <p:nvSpPr>
          <p:cNvPr id="22" name="Text 11"/>
          <p:cNvSpPr/>
          <p:nvPr/>
        </p:nvSpPr>
        <p:spPr>
          <a:xfrm>
            <a:off x="4343400" y="2141141"/>
            <a:ext cx="1320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initialise</a:t>
            </a:r>
            <a:endParaRPr lang="en-US" sz="1200" dirty="0"/>
          </a:p>
        </p:txBody>
      </p:sp>
      <p:sp>
        <p:nvSpPr>
          <p:cNvPr id="23" name="Text 12"/>
          <p:cNvSpPr/>
          <p:nvPr/>
        </p:nvSpPr>
        <p:spPr>
          <a:xfrm>
            <a:off x="4343400" y="2661841"/>
            <a:ext cx="1320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pilote</a:t>
            </a:r>
            <a:endParaRPr lang="en-US" sz="1200" dirty="0"/>
          </a:p>
        </p:txBody>
      </p:sp>
      <p:sp>
        <p:nvSpPr>
          <p:cNvPr id="24" name="Text 13"/>
          <p:cNvSpPr/>
          <p:nvPr/>
        </p:nvSpPr>
        <p:spPr>
          <a:xfrm>
            <a:off x="4343400" y="3131741"/>
            <a:ext cx="1320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résultat réel</a:t>
            </a:r>
            <a:endParaRPr lang="en-US" sz="1200" dirty="0"/>
          </a:p>
        </p:txBody>
      </p:sp>
      <p:sp>
        <p:nvSpPr>
          <p:cNvPr id="25" name="Text 14"/>
          <p:cNvSpPr/>
          <p:nvPr/>
        </p:nvSpPr>
        <p:spPr>
          <a:xfrm>
            <a:off x="4343400" y="3627041"/>
            <a:ext cx="1320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supprime</a:t>
            </a:r>
            <a:endParaRPr lang="en-US" sz="1200" dirty="0"/>
          </a:p>
        </p:txBody>
      </p:sp>
      <p:sp>
        <p:nvSpPr>
          <p:cNvPr id="26" name="Shape 15"/>
          <p:cNvSpPr/>
          <p:nvPr/>
        </p:nvSpPr>
        <p:spPr>
          <a:xfrm>
            <a:off x="5645150" y="2236391"/>
            <a:ext cx="2654300" cy="1892300"/>
          </a:xfrm>
          <a:prstGeom prst="roundRect">
            <a:avLst>
              <a:gd name="adj" fmla="val 5034"/>
            </a:avLst>
          </a:prstGeom>
          <a:solidFill>
            <a:srgbClr val="FDFEFF"/>
          </a:solidFill>
          <a:ln w="12700">
            <a:solidFill>
              <a:srgbClr val="0E2A47"/>
            </a:solidFill>
            <a:prstDash val="solid"/>
          </a:ln>
        </p:spPr>
        <p:txBody>
          <a:bodyPr/>
          <a:lstStyle/>
          <a:p>
            <a:endParaRPr lang="fr-FR"/>
          </a:p>
        </p:txBody>
      </p:sp>
      <p:pic>
        <p:nvPicPr>
          <p:cNvPr id="27" name="Image 9" descr="Globe"/>
          <p:cNvPicPr>
            <a:picLocks noChangeAspect="1"/>
          </p:cNvPicPr>
          <p:nvPr/>
        </p:nvPicPr>
        <p:blipFill>
          <a:blip r:embed="rId12"/>
          <a:srcRect/>
          <a:stretch/>
        </p:blipFill>
        <p:spPr>
          <a:xfrm>
            <a:off x="5854700" y="2898080"/>
            <a:ext cx="279400" cy="279400"/>
          </a:xfrm>
          <a:prstGeom prst="rect">
            <a:avLst/>
          </a:prstGeom>
        </p:spPr>
      </p:pic>
      <p:sp>
        <p:nvSpPr>
          <p:cNvPr id="28" name="Text 16"/>
          <p:cNvSpPr/>
          <p:nvPr/>
        </p:nvSpPr>
        <p:spPr>
          <a:xfrm>
            <a:off x="6210300" y="2908201"/>
            <a:ext cx="153543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E2A47"/>
                </a:solidFill>
                <a:latin typeface="Arial" pitchFamily="34" charset="0"/>
                <a:ea typeface="Arial" pitchFamily="34" charset="-122"/>
                <a:cs typeface="Arial" pitchFamily="34" charset="-120"/>
              </a:rPr>
              <a:t>Open WebUI</a:t>
            </a:r>
            <a:endParaRPr lang="en-US" sz="1700" dirty="0"/>
          </a:p>
        </p:txBody>
      </p:sp>
      <p:sp>
        <p:nvSpPr>
          <p:cNvPr id="29" name="Text 17"/>
          <p:cNvSpPr/>
          <p:nvPr/>
        </p:nvSpPr>
        <p:spPr>
          <a:xfrm>
            <a:off x="5854700" y="3253680"/>
            <a:ext cx="23022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Système testé : tenants A et B</a:t>
            </a:r>
            <a:endParaRPr lang="en-US" sz="1200" dirty="0"/>
          </a:p>
        </p:txBody>
      </p:sp>
      <p:sp>
        <p:nvSpPr>
          <p:cNvPr id="30" name="Text 18"/>
          <p:cNvSpPr/>
          <p:nvPr/>
        </p:nvSpPr>
        <p:spPr>
          <a:xfrm>
            <a:off x="8369300" y="2801541"/>
            <a:ext cx="876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interagit</a:t>
            </a:r>
            <a:endParaRPr lang="en-US" sz="1200" dirty="0"/>
          </a:p>
        </p:txBody>
      </p:sp>
      <p:sp>
        <p:nvSpPr>
          <p:cNvPr id="31" name="Shape 19"/>
          <p:cNvSpPr/>
          <p:nvPr/>
        </p:nvSpPr>
        <p:spPr>
          <a:xfrm>
            <a:off x="9201150" y="2553891"/>
            <a:ext cx="2171700" cy="1257300"/>
          </a:xfrm>
          <a:prstGeom prst="roundRect">
            <a:avLst>
              <a:gd name="adj" fmla="val 7576"/>
            </a:avLst>
          </a:prstGeom>
          <a:solidFill>
            <a:srgbClr val="FDFEFF"/>
          </a:solidFill>
          <a:ln w="12700">
            <a:solidFill>
              <a:srgbClr val="2563B8"/>
            </a:solidFill>
            <a:prstDash val="solid"/>
          </a:ln>
        </p:spPr>
        <p:txBody>
          <a:bodyPr/>
          <a:lstStyle/>
          <a:p>
            <a:endParaRPr lang="fr-FR"/>
          </a:p>
        </p:txBody>
      </p:sp>
      <p:pic>
        <p:nvPicPr>
          <p:cNvPr id="32" name="Image 10" descr="Lightning"/>
          <p:cNvPicPr>
            <a:picLocks noChangeAspect="1"/>
          </p:cNvPicPr>
          <p:nvPr/>
        </p:nvPicPr>
        <p:blipFill>
          <a:blip r:embed="rId13"/>
          <a:srcRect/>
          <a:stretch/>
        </p:blipFill>
        <p:spPr>
          <a:xfrm>
            <a:off x="9385300" y="2917130"/>
            <a:ext cx="254000" cy="254000"/>
          </a:xfrm>
          <a:prstGeom prst="rect">
            <a:avLst/>
          </a:prstGeom>
        </p:spPr>
      </p:pic>
      <p:sp>
        <p:nvSpPr>
          <p:cNvPr id="33" name="Text 20"/>
          <p:cNvSpPr/>
          <p:nvPr/>
        </p:nvSpPr>
        <p:spPr>
          <a:xfrm>
            <a:off x="9715500" y="2929830"/>
            <a:ext cx="100369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2A47"/>
                </a:solidFill>
                <a:latin typeface="Arial" pitchFamily="34" charset="0"/>
                <a:ea typeface="Arial" pitchFamily="34" charset="-122"/>
                <a:cs typeface="Arial" pitchFamily="34" charset="-120"/>
              </a:rPr>
              <a:t>mock-llm</a:t>
            </a:r>
            <a:endParaRPr lang="en-US" sz="1500" dirty="0"/>
          </a:p>
        </p:txBody>
      </p:sp>
      <p:sp>
        <p:nvSpPr>
          <p:cNvPr id="34" name="Text 21"/>
          <p:cNvSpPr/>
          <p:nvPr/>
        </p:nvSpPr>
        <p:spPr>
          <a:xfrm>
            <a:off x="9385300" y="3234630"/>
            <a:ext cx="18575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composant dont il dépend</a:t>
            </a:r>
            <a:endParaRPr lang="en-US" sz="1200" dirty="0"/>
          </a:p>
        </p:txBody>
      </p:sp>
      <p:sp>
        <p:nvSpPr>
          <p:cNvPr id="35" name="Shape 22"/>
          <p:cNvSpPr/>
          <p:nvPr/>
        </p:nvSpPr>
        <p:spPr>
          <a:xfrm>
            <a:off x="819150" y="4446191"/>
            <a:ext cx="10553700" cy="756841"/>
          </a:xfrm>
          <a:prstGeom prst="roundRect">
            <a:avLst>
              <a:gd name="adj" fmla="val 9229"/>
            </a:avLst>
          </a:prstGeom>
          <a:solidFill>
            <a:srgbClr val="FDFEFF"/>
          </a:solidFill>
          <a:ln w="12700">
            <a:solidFill>
              <a:srgbClr val="0E2A47"/>
            </a:solidFill>
            <a:prstDash val="solid"/>
          </a:ln>
        </p:spPr>
        <p:txBody>
          <a:bodyPr/>
          <a:lstStyle/>
          <a:p>
            <a:endParaRPr lang="fr-FR"/>
          </a:p>
        </p:txBody>
      </p:sp>
      <p:sp>
        <p:nvSpPr>
          <p:cNvPr id="36" name="Text 23"/>
          <p:cNvSpPr/>
          <p:nvPr/>
        </p:nvSpPr>
        <p:spPr>
          <a:xfrm>
            <a:off x="1003300" y="4579541"/>
            <a:ext cx="526482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Nettoyage automatique des ressources temporaires</a:t>
            </a:r>
            <a:endParaRPr lang="en-US" sz="1400" dirty="0"/>
          </a:p>
        </p:txBody>
      </p:sp>
      <p:pic>
        <p:nvPicPr>
          <p:cNvPr id="37" name="Image 11" descr="Users"/>
          <p:cNvPicPr>
            <a:picLocks noChangeAspect="1"/>
          </p:cNvPicPr>
          <p:nvPr/>
        </p:nvPicPr>
        <p:blipFill>
          <a:blip r:embed="rId14"/>
          <a:srcRect/>
          <a:stretch/>
        </p:blipFill>
        <p:spPr>
          <a:xfrm>
            <a:off x="7572375" y="4590951"/>
            <a:ext cx="190500" cy="190500"/>
          </a:xfrm>
          <a:prstGeom prst="rect">
            <a:avLst/>
          </a:prstGeom>
        </p:spPr>
      </p:pic>
      <p:sp>
        <p:nvSpPr>
          <p:cNvPr id="38" name="Text 24"/>
          <p:cNvSpPr/>
          <p:nvPr/>
        </p:nvSpPr>
        <p:spPr>
          <a:xfrm>
            <a:off x="7813675" y="4579541"/>
            <a:ext cx="83006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Arial" pitchFamily="34" charset="0"/>
                <a:ea typeface="Arial" pitchFamily="34" charset="-122"/>
                <a:cs typeface="Arial" pitchFamily="34" charset="-120"/>
              </a:rPr>
              <a:t>utilisateurs</a:t>
            </a:r>
            <a:endParaRPr lang="en-US" sz="1200" dirty="0"/>
          </a:p>
        </p:txBody>
      </p:sp>
      <p:pic>
        <p:nvPicPr>
          <p:cNvPr id="39" name="Image 12" descr="Database"/>
          <p:cNvPicPr>
            <a:picLocks noChangeAspect="1"/>
          </p:cNvPicPr>
          <p:nvPr/>
        </p:nvPicPr>
        <p:blipFill>
          <a:blip r:embed="rId15"/>
          <a:srcRect/>
          <a:stretch/>
        </p:blipFill>
        <p:spPr>
          <a:xfrm>
            <a:off x="8643739" y="4590951"/>
            <a:ext cx="190500" cy="190500"/>
          </a:xfrm>
          <a:prstGeom prst="rect">
            <a:avLst/>
          </a:prstGeom>
        </p:spPr>
      </p:pic>
      <p:sp>
        <p:nvSpPr>
          <p:cNvPr id="40" name="Text 25"/>
          <p:cNvSpPr/>
          <p:nvPr/>
        </p:nvSpPr>
        <p:spPr>
          <a:xfrm>
            <a:off x="8885039" y="4579541"/>
            <a:ext cx="88086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Arial" pitchFamily="34" charset="0"/>
                <a:ea typeface="Arial" pitchFamily="34" charset="-122"/>
                <a:cs typeface="Arial" pitchFamily="34" charset="-120"/>
              </a:rPr>
              <a:t>bases RAG</a:t>
            </a:r>
            <a:endParaRPr lang="en-US" sz="1200" dirty="0"/>
          </a:p>
        </p:txBody>
      </p:sp>
      <p:pic>
        <p:nvPicPr>
          <p:cNvPr id="41" name="Image 13" descr="Book"/>
          <p:cNvPicPr>
            <a:picLocks noChangeAspect="1"/>
          </p:cNvPicPr>
          <p:nvPr/>
        </p:nvPicPr>
        <p:blipFill>
          <a:blip r:embed="rId16"/>
          <a:srcRect/>
          <a:stretch/>
        </p:blipFill>
        <p:spPr>
          <a:xfrm>
            <a:off x="9765903" y="4590951"/>
            <a:ext cx="190500" cy="190500"/>
          </a:xfrm>
          <a:prstGeom prst="rect">
            <a:avLst/>
          </a:prstGeom>
        </p:spPr>
      </p:pic>
      <p:sp>
        <p:nvSpPr>
          <p:cNvPr id="42" name="Text 26"/>
          <p:cNvSpPr/>
          <p:nvPr/>
        </p:nvSpPr>
        <p:spPr>
          <a:xfrm>
            <a:off x="10007203" y="4579541"/>
            <a:ext cx="5793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Arial" pitchFamily="34" charset="0"/>
                <a:ea typeface="Arial" pitchFamily="34" charset="-122"/>
                <a:cs typeface="Arial" pitchFamily="34" charset="-120"/>
              </a:rPr>
              <a:t>fichiers</a:t>
            </a:r>
            <a:endParaRPr lang="en-US" sz="1200" dirty="0"/>
          </a:p>
        </p:txBody>
      </p:sp>
      <p:pic>
        <p:nvPicPr>
          <p:cNvPr id="43" name="Image 14" descr="Wrench"/>
          <p:cNvPicPr>
            <a:picLocks noChangeAspect="1"/>
          </p:cNvPicPr>
          <p:nvPr/>
        </p:nvPicPr>
        <p:blipFill>
          <a:blip r:embed="rId17"/>
          <a:srcRect/>
          <a:stretch/>
        </p:blipFill>
        <p:spPr>
          <a:xfrm>
            <a:off x="10591602" y="4590951"/>
            <a:ext cx="190500" cy="190500"/>
          </a:xfrm>
          <a:prstGeom prst="rect">
            <a:avLst/>
          </a:prstGeom>
        </p:spPr>
      </p:pic>
      <p:sp>
        <p:nvSpPr>
          <p:cNvPr id="44" name="Text 27"/>
          <p:cNvSpPr/>
          <p:nvPr/>
        </p:nvSpPr>
        <p:spPr>
          <a:xfrm>
            <a:off x="10832902" y="4579541"/>
            <a:ext cx="4269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Arial" pitchFamily="34" charset="0"/>
                <a:ea typeface="Arial" pitchFamily="34" charset="-122"/>
                <a:cs typeface="Arial" pitchFamily="34" charset="-120"/>
              </a:rPr>
              <a:t>outils</a:t>
            </a:r>
            <a:endParaRPr lang="en-US" sz="1200" dirty="0"/>
          </a:p>
        </p:txBody>
      </p:sp>
      <p:sp>
        <p:nvSpPr>
          <p:cNvPr id="45" name="Text 28"/>
          <p:cNvSpPr/>
          <p:nvPr/>
        </p:nvSpPr>
        <p:spPr>
          <a:xfrm>
            <a:off x="1003300" y="4856361"/>
            <a:ext cx="1049096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Supprimés dans des blocs finally, même si une assertion échoue. Limite : certaines conversations de test peuvent rester dans les volumes Docker.</a:t>
            </a:r>
            <a:endParaRPr lang="en-US" sz="1200" dirty="0"/>
          </a:p>
        </p:txBody>
      </p:sp>
      <p:sp>
        <p:nvSpPr>
          <p:cNvPr id="46" name="Text 2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COUVERTURE</a:t>
            </a:r>
            <a:endParaRPr lang="en-US" sz="1200" dirty="0"/>
          </a:p>
        </p:txBody>
      </p:sp>
      <p:sp>
        <p:nvSpPr>
          <p:cNvPr id="3" name="Text 1"/>
          <p:cNvSpPr>
            <a:spLocks noGrp="1"/>
          </p:cNvSpPr>
          <p:nvPr>
            <p:ph type="title"/>
          </p:nvPr>
        </p:nvSpPr>
        <p:spPr>
          <a:xfrm>
            <a:off x="812800" y="1229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16 scénarios répartis sur six parcours</a:t>
            </a:r>
            <a:endParaRPr lang="en-US" sz="3200" dirty="0"/>
          </a:p>
        </p:txBody>
      </p:sp>
      <p:sp>
        <p:nvSpPr>
          <p:cNvPr id="4" name="Shape 2"/>
          <p:cNvSpPr/>
          <p:nvPr/>
        </p:nvSpPr>
        <p:spPr>
          <a:xfrm>
            <a:off x="815975" y="1903016"/>
            <a:ext cx="3414117" cy="1118791"/>
          </a:xfrm>
          <a:prstGeom prst="roundRect">
            <a:avLst>
              <a:gd name="adj" fmla="val 8797"/>
            </a:avLst>
          </a:prstGeom>
          <a:solidFill>
            <a:srgbClr val="FBFCFE"/>
          </a:solidFill>
          <a:ln w="6350">
            <a:solidFill>
              <a:srgbClr val="C9D8EA"/>
            </a:solidFill>
            <a:prstDash val="solid"/>
          </a:ln>
        </p:spPr>
        <p:txBody>
          <a:bodyPr/>
          <a:lstStyle/>
          <a:p>
            <a:endParaRPr lang="fr-FR"/>
          </a:p>
        </p:txBody>
      </p:sp>
      <p:pic>
        <p:nvPicPr>
          <p:cNvPr id="5" name="Image 0" descr="Key"/>
          <p:cNvPicPr>
            <a:picLocks noChangeAspect="1"/>
          </p:cNvPicPr>
          <p:nvPr/>
        </p:nvPicPr>
        <p:blipFill>
          <a:blip r:embed="rId3"/>
          <a:srcRect/>
          <a:stretch/>
        </p:blipFill>
        <p:spPr>
          <a:xfrm>
            <a:off x="996950" y="2083991"/>
            <a:ext cx="254000" cy="254000"/>
          </a:xfrm>
          <a:prstGeom prst="rect">
            <a:avLst/>
          </a:prstGeom>
        </p:spPr>
      </p:pic>
      <p:sp>
        <p:nvSpPr>
          <p:cNvPr id="6" name="Text 3"/>
          <p:cNvSpPr/>
          <p:nvPr/>
        </p:nvSpPr>
        <p:spPr>
          <a:xfrm>
            <a:off x="1327150" y="2089051"/>
            <a:ext cx="125980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Connexion</a:t>
            </a:r>
            <a:endParaRPr lang="en-US" sz="1600" dirty="0"/>
          </a:p>
        </p:txBody>
      </p:sp>
      <p:sp>
        <p:nvSpPr>
          <p:cNvPr id="7" name="Text 4"/>
          <p:cNvSpPr/>
          <p:nvPr/>
        </p:nvSpPr>
        <p:spPr>
          <a:xfrm>
            <a:off x="3950196" y="2086570"/>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B8"/>
                </a:solidFill>
                <a:latin typeface="Arial" pitchFamily="34" charset="0"/>
                <a:ea typeface="Arial" pitchFamily="34" charset="-122"/>
                <a:cs typeface="Arial" pitchFamily="34" charset="-120"/>
              </a:rPr>
              <a:t>3</a:t>
            </a:r>
            <a:endParaRPr lang="en-US" sz="1400" dirty="0"/>
          </a:p>
        </p:txBody>
      </p:sp>
      <p:sp>
        <p:nvSpPr>
          <p:cNvPr id="8" name="Text 5"/>
          <p:cNvSpPr/>
          <p:nvPr/>
        </p:nvSpPr>
        <p:spPr>
          <a:xfrm>
            <a:off x="996950" y="2414191"/>
            <a:ext cx="314373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Session reprise · mauvais mot de passe → erreur · connexion d’un utilisateur</a:t>
            </a:r>
            <a:endParaRPr lang="en-US" sz="1200" dirty="0"/>
          </a:p>
        </p:txBody>
      </p:sp>
      <p:sp>
        <p:nvSpPr>
          <p:cNvPr id="9" name="Shape 6"/>
          <p:cNvSpPr/>
          <p:nvPr/>
        </p:nvSpPr>
        <p:spPr>
          <a:xfrm>
            <a:off x="4388842" y="1903016"/>
            <a:ext cx="3414216" cy="1118791"/>
          </a:xfrm>
          <a:prstGeom prst="roundRect">
            <a:avLst>
              <a:gd name="adj" fmla="val 8797"/>
            </a:avLst>
          </a:prstGeom>
          <a:solidFill>
            <a:srgbClr val="FBFCFE"/>
          </a:solidFill>
          <a:ln w="6350">
            <a:solidFill>
              <a:srgbClr val="C9D8EA"/>
            </a:solidFill>
            <a:prstDash val="solid"/>
          </a:ln>
        </p:spPr>
        <p:txBody>
          <a:bodyPr/>
          <a:lstStyle/>
          <a:p>
            <a:endParaRPr lang="fr-FR"/>
          </a:p>
        </p:txBody>
      </p:sp>
      <p:pic>
        <p:nvPicPr>
          <p:cNvPr id="10" name="Image 1" descr="Chat"/>
          <p:cNvPicPr>
            <a:picLocks noChangeAspect="1"/>
          </p:cNvPicPr>
          <p:nvPr/>
        </p:nvPicPr>
        <p:blipFill>
          <a:blip r:embed="rId4"/>
          <a:srcRect/>
          <a:stretch/>
        </p:blipFill>
        <p:spPr>
          <a:xfrm>
            <a:off x="4569817" y="2083991"/>
            <a:ext cx="254000" cy="254000"/>
          </a:xfrm>
          <a:prstGeom prst="rect">
            <a:avLst/>
          </a:prstGeom>
        </p:spPr>
      </p:pic>
      <p:sp>
        <p:nvSpPr>
          <p:cNvPr id="11" name="Text 7"/>
          <p:cNvSpPr/>
          <p:nvPr/>
        </p:nvSpPr>
        <p:spPr>
          <a:xfrm>
            <a:off x="4900017" y="2089051"/>
            <a:ext cx="54185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Chat</a:t>
            </a:r>
            <a:endParaRPr lang="en-US" sz="1600" dirty="0"/>
          </a:p>
        </p:txBody>
      </p:sp>
      <p:sp>
        <p:nvSpPr>
          <p:cNvPr id="12" name="Text 8"/>
          <p:cNvSpPr/>
          <p:nvPr/>
        </p:nvSpPr>
        <p:spPr>
          <a:xfrm>
            <a:off x="7523163" y="2086570"/>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B8"/>
                </a:solidFill>
                <a:latin typeface="Arial" pitchFamily="34" charset="0"/>
                <a:ea typeface="Arial" pitchFamily="34" charset="-122"/>
                <a:cs typeface="Arial" pitchFamily="34" charset="-120"/>
              </a:rPr>
              <a:t>4</a:t>
            </a:r>
            <a:endParaRPr lang="en-US" sz="1400" dirty="0"/>
          </a:p>
        </p:txBody>
      </p:sp>
      <p:sp>
        <p:nvSpPr>
          <p:cNvPr id="13" name="Text 9"/>
          <p:cNvSpPr/>
          <p:nvPr/>
        </p:nvSpPr>
        <p:spPr>
          <a:xfrm>
            <a:off x="4569817" y="2414191"/>
            <a:ext cx="31438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Streaming complet · débit irrégulier · persistance côté serveur · panne LLM</a:t>
            </a:r>
            <a:endParaRPr lang="en-US" sz="1200" dirty="0"/>
          </a:p>
        </p:txBody>
      </p:sp>
      <p:sp>
        <p:nvSpPr>
          <p:cNvPr id="14" name="Shape 10"/>
          <p:cNvSpPr/>
          <p:nvPr/>
        </p:nvSpPr>
        <p:spPr>
          <a:xfrm>
            <a:off x="7961809" y="1903016"/>
            <a:ext cx="3414117" cy="1118791"/>
          </a:xfrm>
          <a:prstGeom prst="roundRect">
            <a:avLst>
              <a:gd name="adj" fmla="val 8797"/>
            </a:avLst>
          </a:prstGeom>
          <a:solidFill>
            <a:srgbClr val="FBFCFE"/>
          </a:solidFill>
          <a:ln w="6350">
            <a:solidFill>
              <a:srgbClr val="C9D8EA"/>
            </a:solidFill>
            <a:prstDash val="solid"/>
          </a:ln>
        </p:spPr>
        <p:txBody>
          <a:bodyPr/>
          <a:lstStyle/>
          <a:p>
            <a:endParaRPr lang="fr-FR"/>
          </a:p>
        </p:txBody>
      </p:sp>
      <p:pic>
        <p:nvPicPr>
          <p:cNvPr id="15" name="Image 2" descr="Book"/>
          <p:cNvPicPr>
            <a:picLocks noChangeAspect="1"/>
          </p:cNvPicPr>
          <p:nvPr/>
        </p:nvPicPr>
        <p:blipFill>
          <a:blip r:embed="rId5"/>
          <a:srcRect/>
          <a:stretch/>
        </p:blipFill>
        <p:spPr>
          <a:xfrm>
            <a:off x="8142784" y="2083991"/>
            <a:ext cx="254000" cy="254000"/>
          </a:xfrm>
          <a:prstGeom prst="rect">
            <a:avLst/>
          </a:prstGeom>
        </p:spPr>
      </p:pic>
      <p:sp>
        <p:nvSpPr>
          <p:cNvPr id="16" name="Text 11"/>
          <p:cNvSpPr/>
          <p:nvPr/>
        </p:nvSpPr>
        <p:spPr>
          <a:xfrm>
            <a:off x="8472984" y="2089051"/>
            <a:ext cx="54185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RAG</a:t>
            </a:r>
            <a:endParaRPr lang="en-US" sz="1600" dirty="0"/>
          </a:p>
        </p:txBody>
      </p:sp>
      <p:sp>
        <p:nvSpPr>
          <p:cNvPr id="17" name="Text 12"/>
          <p:cNvSpPr/>
          <p:nvPr/>
        </p:nvSpPr>
        <p:spPr>
          <a:xfrm>
            <a:off x="11096030" y="2086570"/>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B8"/>
                </a:solidFill>
                <a:latin typeface="Arial" pitchFamily="34" charset="0"/>
                <a:ea typeface="Arial" pitchFamily="34" charset="-122"/>
                <a:cs typeface="Arial" pitchFamily="34" charset="-120"/>
              </a:rPr>
              <a:t>3</a:t>
            </a:r>
            <a:endParaRPr lang="en-US" sz="1400" dirty="0"/>
          </a:p>
        </p:txBody>
      </p:sp>
      <p:sp>
        <p:nvSpPr>
          <p:cNvPr id="18" name="Text 13"/>
          <p:cNvSpPr/>
          <p:nvPr/>
        </p:nvSpPr>
        <p:spPr>
          <a:xfrm>
            <a:off x="8142784" y="2414191"/>
            <a:ext cx="314373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Réponse fondée sur le document · base visible · source citée dans le chat</a:t>
            </a:r>
            <a:endParaRPr lang="en-US" sz="1200" dirty="0"/>
          </a:p>
        </p:txBody>
      </p:sp>
      <p:sp>
        <p:nvSpPr>
          <p:cNvPr id="19" name="Shape 14"/>
          <p:cNvSpPr/>
          <p:nvPr/>
        </p:nvSpPr>
        <p:spPr>
          <a:xfrm>
            <a:off x="815975" y="3180556"/>
            <a:ext cx="3414117" cy="1118791"/>
          </a:xfrm>
          <a:prstGeom prst="roundRect">
            <a:avLst>
              <a:gd name="adj" fmla="val 8797"/>
            </a:avLst>
          </a:prstGeom>
          <a:solidFill>
            <a:srgbClr val="FBFCFE"/>
          </a:solidFill>
          <a:ln w="6350">
            <a:solidFill>
              <a:srgbClr val="C9D8EA"/>
            </a:solidFill>
            <a:prstDash val="solid"/>
          </a:ln>
        </p:spPr>
        <p:txBody>
          <a:bodyPr/>
          <a:lstStyle/>
          <a:p>
            <a:endParaRPr lang="fr-FR"/>
          </a:p>
        </p:txBody>
      </p:sp>
      <p:pic>
        <p:nvPicPr>
          <p:cNvPr id="20" name="Image 3" descr="Lock"/>
          <p:cNvPicPr>
            <a:picLocks noChangeAspect="1"/>
          </p:cNvPicPr>
          <p:nvPr/>
        </p:nvPicPr>
        <p:blipFill>
          <a:blip r:embed="rId6"/>
          <a:srcRect/>
          <a:stretch/>
        </p:blipFill>
        <p:spPr>
          <a:xfrm>
            <a:off x="996950" y="3361531"/>
            <a:ext cx="254000" cy="254000"/>
          </a:xfrm>
          <a:prstGeom prst="rect">
            <a:avLst/>
          </a:prstGeom>
        </p:spPr>
      </p:pic>
      <p:sp>
        <p:nvSpPr>
          <p:cNvPr id="21" name="Text 15"/>
          <p:cNvSpPr/>
          <p:nvPr/>
        </p:nvSpPr>
        <p:spPr>
          <a:xfrm>
            <a:off x="1327150" y="3366591"/>
            <a:ext cx="100250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Isolation</a:t>
            </a:r>
            <a:endParaRPr lang="en-US" sz="1600" dirty="0"/>
          </a:p>
        </p:txBody>
      </p:sp>
      <p:sp>
        <p:nvSpPr>
          <p:cNvPr id="22" name="Text 16"/>
          <p:cNvSpPr/>
          <p:nvPr/>
        </p:nvSpPr>
        <p:spPr>
          <a:xfrm>
            <a:off x="3950196" y="3364111"/>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B8"/>
                </a:solidFill>
                <a:latin typeface="Arial" pitchFamily="34" charset="0"/>
                <a:ea typeface="Arial" pitchFamily="34" charset="-122"/>
                <a:cs typeface="Arial" pitchFamily="34" charset="-120"/>
              </a:rPr>
              <a:t>3</a:t>
            </a:r>
            <a:endParaRPr lang="en-US" sz="1400" dirty="0"/>
          </a:p>
        </p:txBody>
      </p:sp>
      <p:sp>
        <p:nvSpPr>
          <p:cNvPr id="23" name="Text 17"/>
          <p:cNvSpPr/>
          <p:nvPr/>
        </p:nvSpPr>
        <p:spPr>
          <a:xfrm>
            <a:off x="996950" y="3691731"/>
            <a:ext cx="314373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Jeton A refusé par B (401) · base A invisible depuis B · chat d’autrui illisible</a:t>
            </a:r>
            <a:endParaRPr lang="en-US" sz="1200" dirty="0"/>
          </a:p>
        </p:txBody>
      </p:sp>
      <p:sp>
        <p:nvSpPr>
          <p:cNvPr id="24" name="Shape 18"/>
          <p:cNvSpPr/>
          <p:nvPr/>
        </p:nvSpPr>
        <p:spPr>
          <a:xfrm>
            <a:off x="4388842" y="3180556"/>
            <a:ext cx="3414216" cy="1118791"/>
          </a:xfrm>
          <a:prstGeom prst="roundRect">
            <a:avLst>
              <a:gd name="adj" fmla="val 8797"/>
            </a:avLst>
          </a:prstGeom>
          <a:solidFill>
            <a:srgbClr val="FBFCFE"/>
          </a:solidFill>
          <a:ln w="6350">
            <a:solidFill>
              <a:srgbClr val="C9D8EA"/>
            </a:solidFill>
            <a:prstDash val="solid"/>
          </a:ln>
        </p:spPr>
        <p:txBody>
          <a:bodyPr/>
          <a:lstStyle/>
          <a:p>
            <a:endParaRPr lang="fr-FR"/>
          </a:p>
        </p:txBody>
      </p:sp>
      <p:pic>
        <p:nvPicPr>
          <p:cNvPr id="25" name="Image 4" descr="Users"/>
          <p:cNvPicPr>
            <a:picLocks noChangeAspect="1"/>
          </p:cNvPicPr>
          <p:nvPr/>
        </p:nvPicPr>
        <p:blipFill>
          <a:blip r:embed="rId7"/>
          <a:srcRect/>
          <a:stretch/>
        </p:blipFill>
        <p:spPr>
          <a:xfrm>
            <a:off x="4569817" y="3361531"/>
            <a:ext cx="254000" cy="254000"/>
          </a:xfrm>
          <a:prstGeom prst="rect">
            <a:avLst/>
          </a:prstGeom>
        </p:spPr>
      </p:pic>
      <p:sp>
        <p:nvSpPr>
          <p:cNvPr id="26" name="Text 19"/>
          <p:cNvSpPr/>
          <p:nvPr/>
        </p:nvSpPr>
        <p:spPr>
          <a:xfrm>
            <a:off x="4900017" y="3366591"/>
            <a:ext cx="66401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Rôles</a:t>
            </a:r>
            <a:endParaRPr lang="en-US" sz="1600" dirty="0"/>
          </a:p>
        </p:txBody>
      </p:sp>
      <p:sp>
        <p:nvSpPr>
          <p:cNvPr id="27" name="Text 20"/>
          <p:cNvSpPr/>
          <p:nvPr/>
        </p:nvSpPr>
        <p:spPr>
          <a:xfrm>
            <a:off x="7523163" y="3364111"/>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B8"/>
                </a:solidFill>
                <a:latin typeface="Arial" pitchFamily="34" charset="0"/>
                <a:ea typeface="Arial" pitchFamily="34" charset="-122"/>
                <a:cs typeface="Arial" pitchFamily="34" charset="-120"/>
              </a:rPr>
              <a:t>2</a:t>
            </a:r>
            <a:endParaRPr lang="en-US" sz="1400" dirty="0"/>
          </a:p>
        </p:txBody>
      </p:sp>
      <p:sp>
        <p:nvSpPr>
          <p:cNvPr id="28" name="Text 21"/>
          <p:cNvSpPr/>
          <p:nvPr/>
        </p:nvSpPr>
        <p:spPr>
          <a:xfrm>
            <a:off x="4569817" y="3691731"/>
            <a:ext cx="31438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API d’administration refusée à un utilisateur (401) · redirection hors de /admin</a:t>
            </a:r>
            <a:endParaRPr lang="en-US" sz="1200" dirty="0"/>
          </a:p>
        </p:txBody>
      </p:sp>
      <p:sp>
        <p:nvSpPr>
          <p:cNvPr id="29" name="Shape 22"/>
          <p:cNvSpPr/>
          <p:nvPr/>
        </p:nvSpPr>
        <p:spPr>
          <a:xfrm>
            <a:off x="7961809" y="3180556"/>
            <a:ext cx="3414117" cy="1118791"/>
          </a:xfrm>
          <a:prstGeom prst="roundRect">
            <a:avLst>
              <a:gd name="adj" fmla="val 8797"/>
            </a:avLst>
          </a:prstGeom>
          <a:solidFill>
            <a:srgbClr val="FBFCFE"/>
          </a:solidFill>
          <a:ln w="6350">
            <a:solidFill>
              <a:srgbClr val="C9D8EA"/>
            </a:solidFill>
            <a:prstDash val="solid"/>
          </a:ln>
        </p:spPr>
        <p:txBody>
          <a:bodyPr/>
          <a:lstStyle/>
          <a:p>
            <a:endParaRPr lang="fr-FR"/>
          </a:p>
        </p:txBody>
      </p:sp>
      <p:pic>
        <p:nvPicPr>
          <p:cNvPr id="30" name="Image 5" descr="Wrench"/>
          <p:cNvPicPr>
            <a:picLocks noChangeAspect="1"/>
          </p:cNvPicPr>
          <p:nvPr/>
        </p:nvPicPr>
        <p:blipFill>
          <a:blip r:embed="rId8"/>
          <a:srcRect/>
          <a:stretch/>
        </p:blipFill>
        <p:spPr>
          <a:xfrm>
            <a:off x="8142784" y="3361531"/>
            <a:ext cx="254000" cy="254000"/>
          </a:xfrm>
          <a:prstGeom prst="rect">
            <a:avLst/>
          </a:prstGeom>
        </p:spPr>
      </p:pic>
      <p:sp>
        <p:nvSpPr>
          <p:cNvPr id="31" name="Text 23"/>
          <p:cNvSpPr/>
          <p:nvPr/>
        </p:nvSpPr>
        <p:spPr>
          <a:xfrm>
            <a:off x="8472984" y="3366591"/>
            <a:ext cx="6909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Outils</a:t>
            </a:r>
            <a:endParaRPr lang="en-US" sz="1600" dirty="0"/>
          </a:p>
        </p:txBody>
      </p:sp>
      <p:sp>
        <p:nvSpPr>
          <p:cNvPr id="32" name="Text 24"/>
          <p:cNvSpPr/>
          <p:nvPr/>
        </p:nvSpPr>
        <p:spPr>
          <a:xfrm>
            <a:off x="11096030" y="3364111"/>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B8"/>
                </a:solidFill>
                <a:latin typeface="Arial" pitchFamily="34" charset="0"/>
                <a:ea typeface="Arial" pitchFamily="34" charset="-122"/>
                <a:cs typeface="Arial" pitchFamily="34" charset="-120"/>
              </a:rPr>
              <a:t>1</a:t>
            </a:r>
            <a:endParaRPr lang="en-US" sz="1400" dirty="0"/>
          </a:p>
        </p:txBody>
      </p:sp>
      <p:sp>
        <p:nvSpPr>
          <p:cNvPr id="33" name="Text 25"/>
          <p:cNvSpPr/>
          <p:nvPr/>
        </p:nvSpPr>
        <p:spPr>
          <a:xfrm>
            <a:off x="8142784" y="3691731"/>
            <a:ext cx="314373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Outil activé dans le chat réellement exécuté, reçu vérifié côté mock</a:t>
            </a:r>
            <a:endParaRPr lang="en-US" sz="1200" dirty="0"/>
          </a:p>
        </p:txBody>
      </p:sp>
      <p:sp>
        <p:nvSpPr>
          <p:cNvPr id="34" name="Text 26"/>
          <p:cNvSpPr/>
          <p:nvPr/>
        </p:nvSpPr>
        <p:spPr>
          <a:xfrm>
            <a:off x="812800" y="4505722"/>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5068"/>
                </a:solidFill>
                <a:latin typeface="Arial" pitchFamily="34" charset="0"/>
                <a:ea typeface="Arial" pitchFamily="34" charset="-122"/>
                <a:cs typeface="Arial" pitchFamily="34" charset="-120"/>
              </a:rPr>
              <a:t>16 scénarios fonctionnels + 1 setup d’authentification = </a:t>
            </a:r>
            <a:r>
              <a:rPr lang="en-US" sz="1300" b="1" dirty="0">
                <a:solidFill>
                  <a:srgbClr val="0E2A47"/>
                </a:solidFill>
                <a:latin typeface="Arial" pitchFamily="34" charset="0"/>
                <a:ea typeface="Arial" pitchFamily="34" charset="-122"/>
                <a:cs typeface="Arial" pitchFamily="34" charset="-120"/>
              </a:rPr>
              <a:t>17 tests</a:t>
            </a:r>
            <a:r>
              <a:rPr lang="en-US" sz="1300" dirty="0">
                <a:solidFill>
                  <a:srgbClr val="3E5068"/>
                </a:solidFill>
                <a:latin typeface="Arial" pitchFamily="34" charset="0"/>
                <a:ea typeface="Arial" pitchFamily="34" charset="-122"/>
                <a:cs typeface="Arial" pitchFamily="34" charset="-120"/>
              </a:rPr>
              <a:t> dans npm test · erreurs couvertes : mot de passe, panne LLM, 401</a:t>
            </a:r>
            <a:endParaRPr lang="en-US" sz="1300" dirty="0"/>
          </a:p>
        </p:txBody>
      </p:sp>
      <p:sp>
        <p:nvSpPr>
          <p:cNvPr id="35" name="Text 2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COMMENT ON PROUVE</a:t>
            </a:r>
            <a:endParaRPr lang="en-US" sz="1200" dirty="0"/>
          </a:p>
        </p:txBody>
      </p:sp>
      <p:sp>
        <p:nvSpPr>
          <p:cNvPr id="3" name="Text 1"/>
          <p:cNvSpPr>
            <a:spLocks noGrp="1"/>
          </p:cNvSpPr>
          <p:nvPr>
            <p:ph type="title"/>
          </p:nvPr>
        </p:nvSpPr>
        <p:spPr>
          <a:xfrm>
            <a:off x="812800" y="12801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Vérifier le résultat réel, pas seulement l’affichage</a:t>
            </a:r>
            <a:endParaRPr lang="en-US" sz="3200" dirty="0"/>
          </a:p>
        </p:txBody>
      </p:sp>
      <p:sp>
        <p:nvSpPr>
          <p:cNvPr id="4" name="Shape 2"/>
          <p:cNvSpPr/>
          <p:nvPr/>
        </p:nvSpPr>
        <p:spPr>
          <a:xfrm>
            <a:off x="819150" y="2007791"/>
            <a:ext cx="3373934" cy="3827859"/>
          </a:xfrm>
          <a:prstGeom prst="roundRect">
            <a:avLst>
              <a:gd name="adj" fmla="val 2823"/>
            </a:avLst>
          </a:prstGeom>
          <a:solidFill>
            <a:srgbClr val="FBFCFE"/>
          </a:solidFill>
          <a:ln w="12700">
            <a:solidFill>
              <a:srgbClr val="0E2A47"/>
            </a:solidFill>
            <a:prstDash val="solid"/>
          </a:ln>
        </p:spPr>
        <p:txBody>
          <a:bodyPr/>
          <a:lstStyle/>
          <a:p>
            <a:endParaRPr lang="fr-FR"/>
          </a:p>
        </p:txBody>
      </p:sp>
      <p:pic>
        <p:nvPicPr>
          <p:cNvPr id="5" name="Image 0" descr="Chat"/>
          <p:cNvPicPr>
            <a:picLocks noChangeAspect="1"/>
          </p:cNvPicPr>
          <p:nvPr/>
        </p:nvPicPr>
        <p:blipFill>
          <a:blip r:embed="rId3"/>
          <a:srcRect/>
          <a:stretch/>
        </p:blipFill>
        <p:spPr>
          <a:xfrm>
            <a:off x="1028700" y="2217341"/>
            <a:ext cx="279400" cy="279400"/>
          </a:xfrm>
          <a:prstGeom prst="rect">
            <a:avLst/>
          </a:prstGeom>
        </p:spPr>
      </p:pic>
      <p:sp>
        <p:nvSpPr>
          <p:cNvPr id="6" name="Text 3"/>
          <p:cNvSpPr/>
          <p:nvPr/>
        </p:nvSpPr>
        <p:spPr>
          <a:xfrm>
            <a:off x="1384300" y="2235101"/>
            <a:ext cx="11924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Streaming</a:t>
            </a:r>
            <a:endParaRPr lang="en-US" sz="1600" dirty="0"/>
          </a:p>
        </p:txBody>
      </p:sp>
      <p:sp>
        <p:nvSpPr>
          <p:cNvPr id="7" name="Text 4"/>
          <p:cNvSpPr/>
          <p:nvPr/>
        </p:nvSpPr>
        <p:spPr>
          <a:xfrm>
            <a:off x="1035050" y="256659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Question + marqueur unique</a:t>
            </a:r>
            <a:endParaRPr lang="en-US" sz="1200" dirty="0"/>
          </a:p>
        </p:txBody>
      </p:sp>
      <p:pic>
        <p:nvPicPr>
          <p:cNvPr id="8" name="Image 1" descr="arrow-down"/>
          <p:cNvPicPr>
            <a:picLocks noChangeAspect="1"/>
          </p:cNvPicPr>
          <p:nvPr/>
        </p:nvPicPr>
        <p:blipFill>
          <a:blip r:embed="rId4"/>
          <a:srcRect/>
          <a:stretch/>
        </p:blipFill>
        <p:spPr>
          <a:xfrm>
            <a:off x="2417167" y="3065661"/>
            <a:ext cx="177800" cy="203200"/>
          </a:xfrm>
          <a:prstGeom prst="rect">
            <a:avLst/>
          </a:prstGeom>
        </p:spPr>
      </p:pic>
      <p:sp>
        <p:nvSpPr>
          <p:cNvPr id="9" name="Text 5"/>
          <p:cNvSpPr/>
          <p:nvPr/>
        </p:nvSpPr>
        <p:spPr>
          <a:xfrm>
            <a:off x="1035050" y="333871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Réponse streamée mot à mot</a:t>
            </a:r>
            <a:endParaRPr lang="en-US" sz="1200" dirty="0"/>
          </a:p>
        </p:txBody>
      </p:sp>
      <p:pic>
        <p:nvPicPr>
          <p:cNvPr id="10" name="Image 2" descr="arrow-down"/>
          <p:cNvPicPr>
            <a:picLocks noChangeAspect="1"/>
          </p:cNvPicPr>
          <p:nvPr/>
        </p:nvPicPr>
        <p:blipFill>
          <a:blip r:embed="rId4"/>
          <a:srcRect/>
          <a:stretch/>
        </p:blipFill>
        <p:spPr>
          <a:xfrm>
            <a:off x="2417167" y="3837781"/>
            <a:ext cx="177800" cy="203200"/>
          </a:xfrm>
          <a:prstGeom prst="rect">
            <a:avLst/>
          </a:prstGeom>
        </p:spPr>
      </p:pic>
      <p:sp>
        <p:nvSpPr>
          <p:cNvPr id="11" name="Text 6"/>
          <p:cNvSpPr/>
          <p:nvPr/>
        </p:nvSpPr>
        <p:spPr>
          <a:xfrm>
            <a:off x="1035050" y="411083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Marqueur final affiché</a:t>
            </a:r>
            <a:endParaRPr lang="en-US" sz="1200" dirty="0"/>
          </a:p>
        </p:txBody>
      </p:sp>
      <p:pic>
        <p:nvPicPr>
          <p:cNvPr id="12" name="Image 3" descr="arrow-down"/>
          <p:cNvPicPr>
            <a:picLocks noChangeAspect="1"/>
          </p:cNvPicPr>
          <p:nvPr/>
        </p:nvPicPr>
        <p:blipFill>
          <a:blip r:embed="rId4"/>
          <a:srcRect/>
          <a:stretch/>
        </p:blipFill>
        <p:spPr>
          <a:xfrm>
            <a:off x="2417167" y="4609902"/>
            <a:ext cx="177800" cy="203200"/>
          </a:xfrm>
          <a:prstGeom prst="rect">
            <a:avLst/>
          </a:prstGeom>
        </p:spPr>
      </p:pic>
      <p:sp>
        <p:nvSpPr>
          <p:cNvPr id="13" name="Text 7"/>
          <p:cNvSpPr/>
          <p:nvPr/>
        </p:nvSpPr>
        <p:spPr>
          <a:xfrm>
            <a:off x="1028700" y="4876602"/>
            <a:ext cx="2954834" cy="416520"/>
          </a:xfrm>
          <a:prstGeom prst="roundRect">
            <a:avLst>
              <a:gd name="adj" fmla="val 15245"/>
            </a:avLst>
          </a:prstGeom>
          <a:solidFill>
            <a:srgbClr val="0E2A47"/>
          </a:solidFill>
          <a:ln/>
        </p:spPr>
        <p:txBody>
          <a:bodyPr wrap="square" lIns="41727" tIns="83001" rIns="41727" bIns="57601" rtlCol="0" anchor="t">
            <a:normAutofit/>
          </a:bodyPr>
          <a:lstStyle/>
          <a:p>
            <a:pPr marL="0" indent="0" algn="ctr">
              <a:lnSpc>
                <a:spcPts val="1680"/>
              </a:lnSpc>
              <a:buNone/>
            </a:pPr>
            <a:r>
              <a:rPr lang="en-US" sz="1200" b="1" dirty="0">
                <a:solidFill>
                  <a:srgbClr val="F4F7FB"/>
                </a:solidFill>
                <a:latin typeface="Arial" pitchFamily="34" charset="0"/>
                <a:ea typeface="Arial" pitchFamily="34" charset="-122"/>
                <a:cs typeface="Arial" pitchFamily="34" charset="-120"/>
              </a:rPr>
              <a:t>Réponse complète vérifiée</a:t>
            </a:r>
            <a:endParaRPr lang="en-US" sz="1200" dirty="0"/>
          </a:p>
        </p:txBody>
      </p:sp>
      <p:sp>
        <p:nvSpPr>
          <p:cNvPr id="14" name="Shape 8"/>
          <p:cNvSpPr/>
          <p:nvPr/>
        </p:nvSpPr>
        <p:spPr>
          <a:xfrm>
            <a:off x="4408984" y="2007791"/>
            <a:ext cx="3373934" cy="3827859"/>
          </a:xfrm>
          <a:prstGeom prst="roundRect">
            <a:avLst>
              <a:gd name="adj" fmla="val 2823"/>
            </a:avLst>
          </a:prstGeom>
          <a:solidFill>
            <a:srgbClr val="FBFCFE"/>
          </a:solidFill>
          <a:ln w="12700">
            <a:solidFill>
              <a:srgbClr val="0E2A47"/>
            </a:solidFill>
            <a:prstDash val="solid"/>
          </a:ln>
        </p:spPr>
        <p:txBody>
          <a:bodyPr/>
          <a:lstStyle/>
          <a:p>
            <a:endParaRPr lang="fr-FR"/>
          </a:p>
        </p:txBody>
      </p:sp>
      <p:pic>
        <p:nvPicPr>
          <p:cNvPr id="15" name="Image 4" descr="Book"/>
          <p:cNvPicPr>
            <a:picLocks noChangeAspect="1"/>
          </p:cNvPicPr>
          <p:nvPr/>
        </p:nvPicPr>
        <p:blipFill>
          <a:blip r:embed="rId5"/>
          <a:srcRect/>
          <a:stretch/>
        </p:blipFill>
        <p:spPr>
          <a:xfrm>
            <a:off x="4618534" y="2217341"/>
            <a:ext cx="279400" cy="279400"/>
          </a:xfrm>
          <a:prstGeom prst="rect">
            <a:avLst/>
          </a:prstGeom>
        </p:spPr>
      </p:pic>
      <p:sp>
        <p:nvSpPr>
          <p:cNvPr id="16" name="Text 9"/>
          <p:cNvSpPr/>
          <p:nvPr/>
        </p:nvSpPr>
        <p:spPr>
          <a:xfrm>
            <a:off x="4974134" y="2235101"/>
            <a:ext cx="54185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RAG</a:t>
            </a:r>
            <a:endParaRPr lang="en-US" sz="1600" dirty="0"/>
          </a:p>
        </p:txBody>
      </p:sp>
      <p:sp>
        <p:nvSpPr>
          <p:cNvPr id="17" name="Text 10"/>
          <p:cNvSpPr/>
          <p:nvPr/>
        </p:nvSpPr>
        <p:spPr>
          <a:xfrm>
            <a:off x="4624884" y="256659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Document synthétique indexé</a:t>
            </a:r>
            <a:endParaRPr lang="en-US" sz="1200" dirty="0"/>
          </a:p>
        </p:txBody>
      </p:sp>
      <p:pic>
        <p:nvPicPr>
          <p:cNvPr id="18" name="Image 5" descr="arrow-down"/>
          <p:cNvPicPr>
            <a:picLocks noChangeAspect="1"/>
          </p:cNvPicPr>
          <p:nvPr/>
        </p:nvPicPr>
        <p:blipFill>
          <a:blip r:embed="rId4"/>
          <a:srcRect/>
          <a:stretch/>
        </p:blipFill>
        <p:spPr>
          <a:xfrm>
            <a:off x="6007001" y="3065661"/>
            <a:ext cx="177800" cy="203200"/>
          </a:xfrm>
          <a:prstGeom prst="rect">
            <a:avLst/>
          </a:prstGeom>
        </p:spPr>
      </p:pic>
      <p:sp>
        <p:nvSpPr>
          <p:cNvPr id="19" name="Text 11"/>
          <p:cNvSpPr/>
          <p:nvPr/>
        </p:nvSpPr>
        <p:spPr>
          <a:xfrm>
            <a:off x="4624884" y="333871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Base jointe depuis le chat</a:t>
            </a:r>
            <a:endParaRPr lang="en-US" sz="1200" dirty="0"/>
          </a:p>
        </p:txBody>
      </p:sp>
      <p:pic>
        <p:nvPicPr>
          <p:cNvPr id="20" name="Image 6" descr="arrow-down"/>
          <p:cNvPicPr>
            <a:picLocks noChangeAspect="1"/>
          </p:cNvPicPr>
          <p:nvPr/>
        </p:nvPicPr>
        <p:blipFill>
          <a:blip r:embed="rId4"/>
          <a:srcRect/>
          <a:stretch/>
        </p:blipFill>
        <p:spPr>
          <a:xfrm>
            <a:off x="6007001" y="3837781"/>
            <a:ext cx="177800" cy="203200"/>
          </a:xfrm>
          <a:prstGeom prst="rect">
            <a:avLst/>
          </a:prstGeom>
        </p:spPr>
      </p:pic>
      <p:sp>
        <p:nvSpPr>
          <p:cNvPr id="21" name="Text 12"/>
          <p:cNvSpPr/>
          <p:nvPr/>
        </p:nvSpPr>
        <p:spPr>
          <a:xfrm>
            <a:off x="4624884" y="411083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Contexte injecté → MOCK-RAG</a:t>
            </a:r>
            <a:endParaRPr lang="en-US" sz="1200" dirty="0"/>
          </a:p>
        </p:txBody>
      </p:sp>
      <p:pic>
        <p:nvPicPr>
          <p:cNvPr id="22" name="Image 7" descr="arrow-down"/>
          <p:cNvPicPr>
            <a:picLocks noChangeAspect="1"/>
          </p:cNvPicPr>
          <p:nvPr/>
        </p:nvPicPr>
        <p:blipFill>
          <a:blip r:embed="rId4"/>
          <a:srcRect/>
          <a:stretch/>
        </p:blipFill>
        <p:spPr>
          <a:xfrm>
            <a:off x="6007001" y="4609902"/>
            <a:ext cx="177800" cy="203200"/>
          </a:xfrm>
          <a:prstGeom prst="rect">
            <a:avLst/>
          </a:prstGeom>
        </p:spPr>
      </p:pic>
      <p:sp>
        <p:nvSpPr>
          <p:cNvPr id="23" name="Text 13"/>
          <p:cNvSpPr/>
          <p:nvPr/>
        </p:nvSpPr>
        <p:spPr>
          <a:xfrm>
            <a:off x="4618534" y="4876602"/>
            <a:ext cx="2954834" cy="416520"/>
          </a:xfrm>
          <a:prstGeom prst="roundRect">
            <a:avLst>
              <a:gd name="adj" fmla="val 15245"/>
            </a:avLst>
          </a:prstGeom>
          <a:solidFill>
            <a:srgbClr val="0E2A47"/>
          </a:solidFill>
          <a:ln/>
        </p:spPr>
        <p:txBody>
          <a:bodyPr wrap="square" lIns="41727" tIns="83001" rIns="41727" bIns="57601" rtlCol="0" anchor="t">
            <a:normAutofit/>
          </a:bodyPr>
          <a:lstStyle/>
          <a:p>
            <a:pPr marL="0" indent="0" algn="ctr">
              <a:lnSpc>
                <a:spcPts val="1680"/>
              </a:lnSpc>
              <a:buNone/>
            </a:pPr>
            <a:r>
              <a:rPr lang="en-US" sz="1200" b="1" dirty="0">
                <a:solidFill>
                  <a:srgbClr val="F4F7FB"/>
                </a:solidFill>
                <a:latin typeface="Arial" pitchFamily="34" charset="0"/>
                <a:ea typeface="Arial" pitchFamily="34" charset="-122"/>
                <a:cs typeface="Arial" pitchFamily="34" charset="-120"/>
              </a:rPr>
              <a:t>Réponse + source citée</a:t>
            </a:r>
            <a:endParaRPr lang="en-US" sz="1200" dirty="0"/>
          </a:p>
        </p:txBody>
      </p:sp>
      <p:sp>
        <p:nvSpPr>
          <p:cNvPr id="24" name="Shape 14"/>
          <p:cNvSpPr/>
          <p:nvPr/>
        </p:nvSpPr>
        <p:spPr>
          <a:xfrm>
            <a:off x="7998817" y="2007791"/>
            <a:ext cx="3373934" cy="3827859"/>
          </a:xfrm>
          <a:prstGeom prst="roundRect">
            <a:avLst>
              <a:gd name="adj" fmla="val 2823"/>
            </a:avLst>
          </a:prstGeom>
          <a:solidFill>
            <a:srgbClr val="FBFCFE"/>
          </a:solidFill>
          <a:ln w="12700">
            <a:solidFill>
              <a:srgbClr val="0E2A47"/>
            </a:solidFill>
            <a:prstDash val="solid"/>
          </a:ln>
        </p:spPr>
        <p:txBody>
          <a:bodyPr/>
          <a:lstStyle/>
          <a:p>
            <a:endParaRPr lang="fr-FR"/>
          </a:p>
        </p:txBody>
      </p:sp>
      <p:pic>
        <p:nvPicPr>
          <p:cNvPr id="25" name="Image 8" descr="Wrench"/>
          <p:cNvPicPr>
            <a:picLocks noChangeAspect="1"/>
          </p:cNvPicPr>
          <p:nvPr/>
        </p:nvPicPr>
        <p:blipFill>
          <a:blip r:embed="rId6"/>
          <a:srcRect/>
          <a:stretch/>
        </p:blipFill>
        <p:spPr>
          <a:xfrm>
            <a:off x="8208367" y="2217341"/>
            <a:ext cx="279400" cy="279400"/>
          </a:xfrm>
          <a:prstGeom prst="rect">
            <a:avLst/>
          </a:prstGeom>
        </p:spPr>
      </p:pic>
      <p:sp>
        <p:nvSpPr>
          <p:cNvPr id="26" name="Text 15"/>
          <p:cNvSpPr/>
          <p:nvPr/>
        </p:nvSpPr>
        <p:spPr>
          <a:xfrm>
            <a:off x="8563967" y="2235101"/>
            <a:ext cx="5553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Outil</a:t>
            </a:r>
            <a:endParaRPr lang="en-US" sz="1600" dirty="0"/>
          </a:p>
        </p:txBody>
      </p:sp>
      <p:sp>
        <p:nvSpPr>
          <p:cNvPr id="27" name="Text 16"/>
          <p:cNvSpPr/>
          <p:nvPr/>
        </p:nvSpPr>
        <p:spPr>
          <a:xfrm>
            <a:off x="8214717" y="256659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Outil activé dans le chat</a:t>
            </a:r>
            <a:endParaRPr lang="en-US" sz="1200" dirty="0"/>
          </a:p>
        </p:txBody>
      </p:sp>
      <p:pic>
        <p:nvPicPr>
          <p:cNvPr id="28" name="Image 9" descr="arrow-down"/>
          <p:cNvPicPr>
            <a:picLocks noChangeAspect="1"/>
          </p:cNvPicPr>
          <p:nvPr/>
        </p:nvPicPr>
        <p:blipFill>
          <a:blip r:embed="rId4"/>
          <a:srcRect/>
          <a:stretch/>
        </p:blipFill>
        <p:spPr>
          <a:xfrm>
            <a:off x="9596834" y="3065661"/>
            <a:ext cx="177800" cy="203200"/>
          </a:xfrm>
          <a:prstGeom prst="rect">
            <a:avLst/>
          </a:prstGeom>
        </p:spPr>
      </p:pic>
      <p:sp>
        <p:nvSpPr>
          <p:cNvPr id="29" name="Text 17"/>
          <p:cNvSpPr/>
          <p:nvPr/>
        </p:nvSpPr>
        <p:spPr>
          <a:xfrm>
            <a:off x="8214717" y="333871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Appel réel de l’outil</a:t>
            </a:r>
            <a:endParaRPr lang="en-US" sz="1200" dirty="0"/>
          </a:p>
        </p:txBody>
      </p:sp>
      <p:pic>
        <p:nvPicPr>
          <p:cNvPr id="30" name="Image 10" descr="arrow-down"/>
          <p:cNvPicPr>
            <a:picLocks noChangeAspect="1"/>
          </p:cNvPicPr>
          <p:nvPr/>
        </p:nvPicPr>
        <p:blipFill>
          <a:blip r:embed="rId4"/>
          <a:srcRect/>
          <a:stretch/>
        </p:blipFill>
        <p:spPr>
          <a:xfrm>
            <a:off x="9596834" y="3837781"/>
            <a:ext cx="177800" cy="203200"/>
          </a:xfrm>
          <a:prstGeom prst="rect">
            <a:avLst/>
          </a:prstGeom>
        </p:spPr>
      </p:pic>
      <p:sp>
        <p:nvSpPr>
          <p:cNvPr id="31" name="Text 18"/>
          <p:cNvSpPr/>
          <p:nvPr/>
        </p:nvSpPr>
        <p:spPr>
          <a:xfrm>
            <a:off x="8214717" y="411083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Reçu enregistré par le mock</a:t>
            </a:r>
            <a:endParaRPr lang="en-US" sz="1200" dirty="0"/>
          </a:p>
        </p:txBody>
      </p:sp>
      <p:pic>
        <p:nvPicPr>
          <p:cNvPr id="32" name="Image 11" descr="arrow-down"/>
          <p:cNvPicPr>
            <a:picLocks noChangeAspect="1"/>
          </p:cNvPicPr>
          <p:nvPr/>
        </p:nvPicPr>
        <p:blipFill>
          <a:blip r:embed="rId4"/>
          <a:srcRect/>
          <a:stretch/>
        </p:blipFill>
        <p:spPr>
          <a:xfrm>
            <a:off x="9596834" y="4609902"/>
            <a:ext cx="177800" cy="203200"/>
          </a:xfrm>
          <a:prstGeom prst="rect">
            <a:avLst/>
          </a:prstGeom>
        </p:spPr>
      </p:pic>
      <p:sp>
        <p:nvSpPr>
          <p:cNvPr id="33" name="Text 19"/>
          <p:cNvSpPr/>
          <p:nvPr/>
        </p:nvSpPr>
        <p:spPr>
          <a:xfrm>
            <a:off x="8208367" y="4876602"/>
            <a:ext cx="2954834" cy="416520"/>
          </a:xfrm>
          <a:prstGeom prst="roundRect">
            <a:avLst>
              <a:gd name="adj" fmla="val 15245"/>
            </a:avLst>
          </a:prstGeom>
          <a:solidFill>
            <a:srgbClr val="0E2A47"/>
          </a:solidFill>
          <a:ln/>
        </p:spPr>
        <p:txBody>
          <a:bodyPr wrap="square" lIns="41727" tIns="83001" rIns="41727" bIns="57601" rtlCol="0" anchor="t">
            <a:normAutofit/>
          </a:bodyPr>
          <a:lstStyle/>
          <a:p>
            <a:pPr marL="0" indent="0" algn="ctr">
              <a:lnSpc>
                <a:spcPts val="1680"/>
              </a:lnSpc>
              <a:buNone/>
            </a:pPr>
            <a:r>
              <a:rPr lang="en-US" sz="1200" b="1" dirty="0">
                <a:solidFill>
                  <a:srgbClr val="F4F7FB"/>
                </a:solidFill>
                <a:latin typeface="Arial" pitchFamily="34" charset="0"/>
                <a:ea typeface="Arial" pitchFamily="34" charset="-122"/>
                <a:cs typeface="Arial" pitchFamily="34" charset="-120"/>
              </a:rPr>
              <a:t>Vérifié à part : 1 appel</a:t>
            </a:r>
            <a:endParaRPr lang="en-US" sz="1200" dirty="0"/>
          </a:p>
        </p:txBody>
      </p:sp>
      <p:sp>
        <p:nvSpPr>
          <p:cNvPr id="34"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COMPARAISON À UNE BASELINE</a:t>
            </a:r>
            <a:endParaRPr lang="en-US" sz="1200" dirty="0"/>
          </a:p>
        </p:txBody>
      </p:sp>
      <p:sp>
        <p:nvSpPr>
          <p:cNvPr id="3" name="Text 1"/>
          <p:cNvSpPr>
            <a:spLocks noGrp="1"/>
          </p:cNvSpPr>
          <p:nvPr>
            <p:ph type="title"/>
          </p:nvPr>
        </p:nvSpPr>
        <p:spPr>
          <a:xfrm>
            <a:off x="812800" y="1229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Pourquoi une attente fixe échoue face au streaming</a:t>
            </a:r>
            <a:endParaRPr lang="en-US" sz="3200" dirty="0"/>
          </a:p>
        </p:txBody>
      </p:sp>
      <p:sp>
        <p:nvSpPr>
          <p:cNvPr id="4" name="Shape 2"/>
          <p:cNvSpPr/>
          <p:nvPr/>
        </p:nvSpPr>
        <p:spPr>
          <a:xfrm>
            <a:off x="815975" y="1903016"/>
            <a:ext cx="10560050" cy="1494631"/>
          </a:xfrm>
          <a:prstGeom prst="roundRect">
            <a:avLst>
              <a:gd name="adj" fmla="val 6585"/>
            </a:avLst>
          </a:prstGeom>
          <a:solidFill>
            <a:srgbClr val="FBFCFE"/>
          </a:solidFill>
          <a:ln w="6350">
            <a:solidFill>
              <a:srgbClr val="C9D8EA"/>
            </a:solidFill>
            <a:prstDash val="solid"/>
          </a:ln>
        </p:spPr>
        <p:txBody>
          <a:bodyPr/>
          <a:lstStyle/>
          <a:p>
            <a:endParaRPr lang="fr-FR"/>
          </a:p>
        </p:txBody>
      </p:sp>
      <p:pic>
        <p:nvPicPr>
          <p:cNvPr id="5" name="Image 0" descr="Clock"/>
          <p:cNvPicPr>
            <a:picLocks noChangeAspect="1"/>
          </p:cNvPicPr>
          <p:nvPr/>
        </p:nvPicPr>
        <p:blipFill>
          <a:blip r:embed="rId3"/>
          <a:srcRect/>
          <a:stretch/>
        </p:blipFill>
        <p:spPr>
          <a:xfrm>
            <a:off x="1022350" y="2119511"/>
            <a:ext cx="254000" cy="254000"/>
          </a:xfrm>
          <a:prstGeom prst="rect">
            <a:avLst/>
          </a:prstGeom>
        </p:spPr>
      </p:pic>
      <p:sp>
        <p:nvSpPr>
          <p:cNvPr id="6" name="Text 3"/>
          <p:cNvSpPr/>
          <p:nvPr/>
        </p:nvSpPr>
        <p:spPr>
          <a:xfrm>
            <a:off x="1377950" y="2132211"/>
            <a:ext cx="48145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2A47"/>
                </a:solidFill>
                <a:latin typeface="Arial" pitchFamily="34" charset="0"/>
                <a:ea typeface="Arial" pitchFamily="34" charset="-122"/>
                <a:cs typeface="Arial" pitchFamily="34" charset="-120"/>
              </a:rPr>
              <a:t>Attente fixe · baseline volontairement fragile</a:t>
            </a:r>
            <a:endParaRPr lang="en-US" sz="1500" dirty="0"/>
          </a:p>
        </p:txBody>
      </p:sp>
      <p:sp>
        <p:nvSpPr>
          <p:cNvPr id="7" name="Text 4"/>
          <p:cNvSpPr/>
          <p:nvPr/>
        </p:nvSpPr>
        <p:spPr>
          <a:xfrm>
            <a:off x="9216033" y="2083991"/>
            <a:ext cx="1953617" cy="325041"/>
          </a:xfrm>
          <a:custGeom>
            <a:avLst/>
            <a:gdLst/>
            <a:ahLst/>
            <a:cxnLst/>
            <a:rect l="l" t="t" r="r" b="b"/>
            <a:pathLst>
              <a:path w="1953617" h="325041">
                <a:moveTo>
                  <a:pt x="162520" y="0"/>
                </a:moveTo>
                <a:lnTo>
                  <a:pt x="1791097" y="0"/>
                </a:lnTo>
                <a:arcTo wR="162520" hR="162520" stAng="16200000" swAng="5400000"/>
                <a:lnTo>
                  <a:pt x="1953617" y="162520"/>
                </a:lnTo>
                <a:arcTo wR="162520" hR="162520" stAng="0" swAng="5400000"/>
                <a:lnTo>
                  <a:pt x="162520" y="325041"/>
                </a:lnTo>
                <a:arcTo wR="162520" hR="162520" stAng="5400000" swAng="5400000"/>
                <a:lnTo>
                  <a:pt x="0" y="162520"/>
                </a:lnTo>
                <a:arcTo wR="162520" hR="162520" stAng="10800000" swAng="5400000"/>
                <a:close/>
              </a:path>
            </a:pathLst>
          </a:custGeom>
          <a:solidFill>
            <a:srgbClr val="FBE6E4"/>
          </a:solidFill>
          <a:ln/>
        </p:spPr>
        <p:txBody>
          <a:bodyPr wrap="none" lIns="0" tIns="0" rIns="0" bIns="0" rtlCol="0" anchor="ctr">
            <a:normAutofit/>
          </a:bodyPr>
          <a:lstStyle/>
          <a:p>
            <a:pPr marL="0" indent="0" algn="ctr">
              <a:lnSpc>
                <a:spcPts val="1960"/>
              </a:lnSpc>
              <a:buNone/>
            </a:pPr>
            <a:r>
              <a:rPr lang="en-US" sz="1400" b="1" dirty="0">
                <a:solidFill>
                  <a:srgbClr val="B83A30"/>
                </a:solidFill>
                <a:latin typeface="Arial" pitchFamily="34" charset="0"/>
                <a:ea typeface="Arial" pitchFamily="34" charset="-122"/>
                <a:cs typeface="Arial" pitchFamily="34" charset="-120"/>
              </a:rPr>
              <a:t>0/10 · échec attendu</a:t>
            </a:r>
            <a:endParaRPr lang="en-US" sz="1400" dirty="0"/>
          </a:p>
        </p:txBody>
      </p:sp>
      <p:sp>
        <p:nvSpPr>
          <p:cNvPr id="8" name="Text 5"/>
          <p:cNvSpPr/>
          <p:nvPr/>
        </p:nvSpPr>
        <p:spPr>
          <a:xfrm>
            <a:off x="1022350" y="2510631"/>
            <a:ext cx="3043734" cy="391120"/>
          </a:xfrm>
          <a:prstGeom prst="roundRect">
            <a:avLst>
              <a:gd name="adj" fmla="val 16235"/>
            </a:avLst>
          </a:prstGeom>
          <a:solidFill>
            <a:srgbClr val="F0F4F9"/>
          </a:solidFill>
          <a:ln/>
        </p:spPr>
        <p:txBody>
          <a:bodyPr wrap="square" lIns="40393" tIns="70301" rIns="40393" bIns="4490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Premiers caractères reçus</a:t>
            </a:r>
            <a:endParaRPr lang="en-US" sz="1200" dirty="0"/>
          </a:p>
        </p:txBody>
      </p:sp>
      <p:pic>
        <p:nvPicPr>
          <p:cNvPr id="9" name="Image 1" descr="arrow-right"/>
          <p:cNvPicPr>
            <a:picLocks noChangeAspect="1"/>
          </p:cNvPicPr>
          <p:nvPr/>
        </p:nvPicPr>
        <p:blipFill>
          <a:blip r:embed="rId4"/>
          <a:srcRect/>
          <a:stretch/>
        </p:blipFill>
        <p:spPr>
          <a:xfrm>
            <a:off x="4167684" y="2617291"/>
            <a:ext cx="304800" cy="177800"/>
          </a:xfrm>
          <a:prstGeom prst="rect">
            <a:avLst/>
          </a:prstGeom>
        </p:spPr>
      </p:pic>
      <p:sp>
        <p:nvSpPr>
          <p:cNvPr id="10" name="Text 6"/>
          <p:cNvSpPr/>
          <p:nvPr/>
        </p:nvSpPr>
        <p:spPr>
          <a:xfrm>
            <a:off x="4574084" y="2510631"/>
            <a:ext cx="3043734" cy="391120"/>
          </a:xfrm>
          <a:prstGeom prst="roundRect">
            <a:avLst>
              <a:gd name="adj" fmla="val 16235"/>
            </a:avLst>
          </a:prstGeom>
          <a:solidFill>
            <a:srgbClr val="F0F4F9"/>
          </a:solidFill>
          <a:ln/>
        </p:spPr>
        <p:txBody>
          <a:bodyPr wrap="square" lIns="40393" tIns="70301" rIns="40393" bIns="4490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Pause fixe de 500 ms</a:t>
            </a:r>
            <a:endParaRPr lang="en-US" sz="1200" dirty="0"/>
          </a:p>
        </p:txBody>
      </p:sp>
      <p:pic>
        <p:nvPicPr>
          <p:cNvPr id="11" name="Image 2" descr="arrow-right"/>
          <p:cNvPicPr>
            <a:picLocks noChangeAspect="1"/>
          </p:cNvPicPr>
          <p:nvPr/>
        </p:nvPicPr>
        <p:blipFill>
          <a:blip r:embed="rId4"/>
          <a:srcRect/>
          <a:stretch/>
        </p:blipFill>
        <p:spPr>
          <a:xfrm>
            <a:off x="7719417" y="2617291"/>
            <a:ext cx="304800" cy="177800"/>
          </a:xfrm>
          <a:prstGeom prst="rect">
            <a:avLst/>
          </a:prstGeom>
        </p:spPr>
      </p:pic>
      <p:sp>
        <p:nvSpPr>
          <p:cNvPr id="12" name="Text 7"/>
          <p:cNvSpPr/>
          <p:nvPr/>
        </p:nvSpPr>
        <p:spPr>
          <a:xfrm>
            <a:off x="8125817" y="2510631"/>
            <a:ext cx="3043734" cy="391120"/>
          </a:xfrm>
          <a:prstGeom prst="roundRect">
            <a:avLst>
              <a:gd name="adj" fmla="val 16235"/>
            </a:avLst>
          </a:prstGeom>
          <a:solidFill>
            <a:srgbClr val="FBE6E4"/>
          </a:solidFill>
          <a:ln/>
        </p:spPr>
        <p:txBody>
          <a:bodyPr wrap="square" lIns="40393" tIns="70301" rIns="40393" bIns="44901" rtlCol="0" anchor="t">
            <a:normAutofit/>
          </a:bodyPr>
          <a:lstStyle/>
          <a:p>
            <a:pPr marL="0" indent="0" algn="ctr">
              <a:lnSpc>
                <a:spcPts val="1680"/>
              </a:lnSpc>
              <a:buNone/>
            </a:pPr>
            <a:r>
              <a:rPr lang="en-US" sz="1200" b="1" dirty="0">
                <a:solidFill>
                  <a:srgbClr val="B83A30"/>
                </a:solidFill>
                <a:latin typeface="Arial" pitchFamily="34" charset="0"/>
                <a:ea typeface="Arial" pitchFamily="34" charset="-122"/>
                <a:cs typeface="Arial" pitchFamily="34" charset="-120"/>
              </a:rPr>
              <a:t>Lecture unique : texte tronqué</a:t>
            </a:r>
            <a:endParaRPr lang="en-US" sz="1200" dirty="0"/>
          </a:p>
        </p:txBody>
      </p:sp>
      <p:sp>
        <p:nvSpPr>
          <p:cNvPr id="13" name="Text 8"/>
          <p:cNvSpPr/>
          <p:nvPr/>
        </p:nvSpPr>
        <p:spPr>
          <a:xfrm>
            <a:off x="1022350" y="3003352"/>
            <a:ext cx="27470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Réponse au moment de la lecture</a:t>
            </a:r>
            <a:endParaRPr lang="en-US" sz="1200" dirty="0"/>
          </a:p>
        </p:txBody>
      </p:sp>
      <p:sp>
        <p:nvSpPr>
          <p:cNvPr id="14" name="Shape 9"/>
          <p:cNvSpPr/>
          <p:nvPr/>
        </p:nvSpPr>
        <p:spPr>
          <a:xfrm>
            <a:off x="3790950" y="3033812"/>
            <a:ext cx="486866" cy="152400"/>
          </a:xfrm>
          <a:prstGeom prst="roundRect">
            <a:avLst>
              <a:gd name="adj" fmla="val 16667"/>
            </a:avLst>
          </a:prstGeom>
          <a:solidFill>
            <a:srgbClr val="2563B8"/>
          </a:solidFill>
          <a:ln/>
        </p:spPr>
        <p:txBody>
          <a:bodyPr/>
          <a:lstStyle/>
          <a:p>
            <a:endParaRPr lang="fr-FR"/>
          </a:p>
        </p:txBody>
      </p:sp>
      <p:sp>
        <p:nvSpPr>
          <p:cNvPr id="15" name="Shape 10"/>
          <p:cNvSpPr/>
          <p:nvPr/>
        </p:nvSpPr>
        <p:spPr>
          <a:xfrm>
            <a:off x="4315916" y="3033812"/>
            <a:ext cx="486866" cy="152400"/>
          </a:xfrm>
          <a:prstGeom prst="roundRect">
            <a:avLst>
              <a:gd name="adj" fmla="val 16667"/>
            </a:avLst>
          </a:prstGeom>
          <a:solidFill>
            <a:srgbClr val="2563B8"/>
          </a:solidFill>
          <a:ln/>
        </p:spPr>
        <p:txBody>
          <a:bodyPr/>
          <a:lstStyle/>
          <a:p>
            <a:endParaRPr lang="fr-FR"/>
          </a:p>
        </p:txBody>
      </p:sp>
      <p:sp>
        <p:nvSpPr>
          <p:cNvPr id="16" name="Shape 11"/>
          <p:cNvSpPr/>
          <p:nvPr/>
        </p:nvSpPr>
        <p:spPr>
          <a:xfrm>
            <a:off x="4840883" y="3033812"/>
            <a:ext cx="486866" cy="152400"/>
          </a:xfrm>
          <a:prstGeom prst="roundRect">
            <a:avLst>
              <a:gd name="adj" fmla="val 16667"/>
            </a:avLst>
          </a:prstGeom>
          <a:solidFill>
            <a:srgbClr val="2563B8"/>
          </a:solidFill>
          <a:ln/>
        </p:spPr>
        <p:txBody>
          <a:bodyPr/>
          <a:lstStyle/>
          <a:p>
            <a:endParaRPr lang="fr-FR"/>
          </a:p>
        </p:txBody>
      </p:sp>
      <p:sp>
        <p:nvSpPr>
          <p:cNvPr id="17" name="Shape 12"/>
          <p:cNvSpPr/>
          <p:nvPr/>
        </p:nvSpPr>
        <p:spPr>
          <a:xfrm>
            <a:off x="5365849" y="3033812"/>
            <a:ext cx="486866" cy="152400"/>
          </a:xfrm>
          <a:prstGeom prst="roundRect">
            <a:avLst>
              <a:gd name="adj" fmla="val 16667"/>
            </a:avLst>
          </a:prstGeom>
          <a:solidFill>
            <a:srgbClr val="2563B8"/>
          </a:solidFill>
          <a:ln/>
        </p:spPr>
        <p:txBody>
          <a:bodyPr/>
          <a:lstStyle/>
          <a:p>
            <a:endParaRPr lang="fr-FR"/>
          </a:p>
        </p:txBody>
      </p:sp>
      <p:sp>
        <p:nvSpPr>
          <p:cNvPr id="18" name="Shape 13"/>
          <p:cNvSpPr/>
          <p:nvPr/>
        </p:nvSpPr>
        <p:spPr>
          <a:xfrm>
            <a:off x="5890816" y="3033812"/>
            <a:ext cx="486866" cy="152400"/>
          </a:xfrm>
          <a:prstGeom prst="roundRect">
            <a:avLst>
              <a:gd name="adj" fmla="val 16667"/>
            </a:avLst>
          </a:prstGeom>
          <a:solidFill>
            <a:srgbClr val="D7E2EF"/>
          </a:solidFill>
          <a:ln/>
        </p:spPr>
        <p:txBody>
          <a:bodyPr/>
          <a:lstStyle/>
          <a:p>
            <a:endParaRPr lang="fr-FR"/>
          </a:p>
        </p:txBody>
      </p:sp>
      <p:sp>
        <p:nvSpPr>
          <p:cNvPr id="19" name="Shape 14"/>
          <p:cNvSpPr/>
          <p:nvPr/>
        </p:nvSpPr>
        <p:spPr>
          <a:xfrm>
            <a:off x="6415782" y="3033812"/>
            <a:ext cx="486866" cy="152400"/>
          </a:xfrm>
          <a:prstGeom prst="roundRect">
            <a:avLst>
              <a:gd name="adj" fmla="val 16667"/>
            </a:avLst>
          </a:prstGeom>
          <a:solidFill>
            <a:srgbClr val="D7E2EF"/>
          </a:solidFill>
          <a:ln/>
        </p:spPr>
        <p:txBody>
          <a:bodyPr/>
          <a:lstStyle/>
          <a:p>
            <a:endParaRPr lang="fr-FR"/>
          </a:p>
        </p:txBody>
      </p:sp>
      <p:sp>
        <p:nvSpPr>
          <p:cNvPr id="20" name="Shape 15"/>
          <p:cNvSpPr/>
          <p:nvPr/>
        </p:nvSpPr>
        <p:spPr>
          <a:xfrm>
            <a:off x="6940748" y="3033812"/>
            <a:ext cx="486866" cy="152400"/>
          </a:xfrm>
          <a:prstGeom prst="roundRect">
            <a:avLst>
              <a:gd name="adj" fmla="val 16667"/>
            </a:avLst>
          </a:prstGeom>
          <a:solidFill>
            <a:srgbClr val="D7E2EF"/>
          </a:solidFill>
          <a:ln/>
        </p:spPr>
        <p:txBody>
          <a:bodyPr/>
          <a:lstStyle/>
          <a:p>
            <a:endParaRPr lang="fr-FR"/>
          </a:p>
        </p:txBody>
      </p:sp>
      <p:sp>
        <p:nvSpPr>
          <p:cNvPr id="21" name="Shape 16"/>
          <p:cNvSpPr/>
          <p:nvPr/>
        </p:nvSpPr>
        <p:spPr>
          <a:xfrm>
            <a:off x="7465715" y="3033812"/>
            <a:ext cx="486866" cy="152400"/>
          </a:xfrm>
          <a:prstGeom prst="roundRect">
            <a:avLst>
              <a:gd name="adj" fmla="val 16667"/>
            </a:avLst>
          </a:prstGeom>
          <a:solidFill>
            <a:srgbClr val="D7E2EF"/>
          </a:solidFill>
          <a:ln/>
        </p:spPr>
        <p:txBody>
          <a:bodyPr/>
          <a:lstStyle/>
          <a:p>
            <a:endParaRPr lang="fr-FR"/>
          </a:p>
        </p:txBody>
      </p:sp>
      <p:sp>
        <p:nvSpPr>
          <p:cNvPr id="22" name="Shape 17"/>
          <p:cNvSpPr/>
          <p:nvPr/>
        </p:nvSpPr>
        <p:spPr>
          <a:xfrm>
            <a:off x="7990681" y="3033812"/>
            <a:ext cx="486866" cy="152400"/>
          </a:xfrm>
          <a:prstGeom prst="roundRect">
            <a:avLst>
              <a:gd name="adj" fmla="val 16667"/>
            </a:avLst>
          </a:prstGeom>
          <a:solidFill>
            <a:srgbClr val="D7E2EF"/>
          </a:solidFill>
          <a:ln/>
        </p:spPr>
        <p:txBody>
          <a:bodyPr/>
          <a:lstStyle/>
          <a:p>
            <a:endParaRPr lang="fr-FR"/>
          </a:p>
        </p:txBody>
      </p:sp>
      <p:sp>
        <p:nvSpPr>
          <p:cNvPr id="23" name="Shape 18"/>
          <p:cNvSpPr/>
          <p:nvPr/>
        </p:nvSpPr>
        <p:spPr>
          <a:xfrm>
            <a:off x="8515648" y="3033812"/>
            <a:ext cx="486866" cy="152400"/>
          </a:xfrm>
          <a:prstGeom prst="roundRect">
            <a:avLst>
              <a:gd name="adj" fmla="val 16667"/>
            </a:avLst>
          </a:prstGeom>
          <a:solidFill>
            <a:srgbClr val="D7E2EF"/>
          </a:solidFill>
          <a:ln/>
        </p:spPr>
        <p:txBody>
          <a:bodyPr/>
          <a:lstStyle/>
          <a:p>
            <a:endParaRPr lang="fr-FR"/>
          </a:p>
        </p:txBody>
      </p:sp>
      <p:sp>
        <p:nvSpPr>
          <p:cNvPr id="24" name="Shape 19"/>
          <p:cNvSpPr/>
          <p:nvPr/>
        </p:nvSpPr>
        <p:spPr>
          <a:xfrm>
            <a:off x="9040614" y="3033812"/>
            <a:ext cx="486866" cy="152400"/>
          </a:xfrm>
          <a:prstGeom prst="roundRect">
            <a:avLst>
              <a:gd name="adj" fmla="val 16667"/>
            </a:avLst>
          </a:prstGeom>
          <a:solidFill>
            <a:srgbClr val="D7E2EF"/>
          </a:solidFill>
          <a:ln/>
        </p:spPr>
        <p:txBody>
          <a:bodyPr/>
          <a:lstStyle/>
          <a:p>
            <a:endParaRPr lang="fr-FR"/>
          </a:p>
        </p:txBody>
      </p:sp>
      <p:sp>
        <p:nvSpPr>
          <p:cNvPr id="25" name="Shape 20"/>
          <p:cNvSpPr/>
          <p:nvPr/>
        </p:nvSpPr>
        <p:spPr>
          <a:xfrm>
            <a:off x="9565580" y="3033812"/>
            <a:ext cx="486866" cy="152400"/>
          </a:xfrm>
          <a:prstGeom prst="roundRect">
            <a:avLst>
              <a:gd name="adj" fmla="val 16667"/>
            </a:avLst>
          </a:prstGeom>
          <a:solidFill>
            <a:srgbClr val="D7E2EF"/>
          </a:solidFill>
          <a:ln/>
        </p:spPr>
        <p:txBody>
          <a:bodyPr/>
          <a:lstStyle/>
          <a:p>
            <a:endParaRPr lang="fr-FR"/>
          </a:p>
        </p:txBody>
      </p:sp>
      <p:sp>
        <p:nvSpPr>
          <p:cNvPr id="26" name="Text 21"/>
          <p:cNvSpPr/>
          <p:nvPr/>
        </p:nvSpPr>
        <p:spPr>
          <a:xfrm>
            <a:off x="10153650" y="3003352"/>
            <a:ext cx="1066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3A30"/>
                </a:solidFill>
                <a:latin typeface="Arial" pitchFamily="34" charset="0"/>
                <a:ea typeface="Arial" pitchFamily="34" charset="-122"/>
                <a:cs typeface="Arial" pitchFamily="34" charset="-120"/>
              </a:rPr>
              <a:t>incomplète</a:t>
            </a:r>
            <a:endParaRPr lang="en-US" sz="1200" dirty="0"/>
          </a:p>
        </p:txBody>
      </p:sp>
      <p:sp>
        <p:nvSpPr>
          <p:cNvPr id="27" name="Shape 22"/>
          <p:cNvSpPr/>
          <p:nvPr/>
        </p:nvSpPr>
        <p:spPr>
          <a:xfrm>
            <a:off x="815975" y="3607197"/>
            <a:ext cx="10560050" cy="1494631"/>
          </a:xfrm>
          <a:prstGeom prst="roundRect">
            <a:avLst>
              <a:gd name="adj" fmla="val 6585"/>
            </a:avLst>
          </a:prstGeom>
          <a:solidFill>
            <a:srgbClr val="FBFCFE"/>
          </a:solidFill>
          <a:ln w="6350">
            <a:solidFill>
              <a:srgbClr val="C9D8EA"/>
            </a:solidFill>
            <a:prstDash val="solid"/>
          </a:ln>
        </p:spPr>
        <p:txBody>
          <a:bodyPr/>
          <a:lstStyle/>
          <a:p>
            <a:endParaRPr lang="fr-FR"/>
          </a:p>
        </p:txBody>
      </p:sp>
      <p:pic>
        <p:nvPicPr>
          <p:cNvPr id="28" name="Image 3" descr="CheckCircle"/>
          <p:cNvPicPr>
            <a:picLocks noChangeAspect="1"/>
          </p:cNvPicPr>
          <p:nvPr/>
        </p:nvPicPr>
        <p:blipFill>
          <a:blip r:embed="rId5"/>
          <a:srcRect/>
          <a:stretch/>
        </p:blipFill>
        <p:spPr>
          <a:xfrm>
            <a:off x="1022350" y="3823692"/>
            <a:ext cx="254000" cy="254000"/>
          </a:xfrm>
          <a:prstGeom prst="rect">
            <a:avLst/>
          </a:prstGeom>
        </p:spPr>
      </p:pic>
      <p:sp>
        <p:nvSpPr>
          <p:cNvPr id="29" name="Text 23"/>
          <p:cNvSpPr/>
          <p:nvPr/>
        </p:nvSpPr>
        <p:spPr>
          <a:xfrm>
            <a:off x="1377950" y="3836392"/>
            <a:ext cx="483941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2A47"/>
                </a:solidFill>
                <a:latin typeface="Arial" pitchFamily="34" charset="0"/>
                <a:ea typeface="Arial" pitchFamily="34" charset="-122"/>
                <a:cs typeface="Arial" pitchFamily="34" charset="-120"/>
              </a:rPr>
              <a:t>Attente conditionnelle · assertion Playwright</a:t>
            </a:r>
            <a:endParaRPr lang="en-US" sz="1500" dirty="0"/>
          </a:p>
        </p:txBody>
      </p:sp>
      <p:sp>
        <p:nvSpPr>
          <p:cNvPr id="30" name="Text 24"/>
          <p:cNvSpPr/>
          <p:nvPr/>
        </p:nvSpPr>
        <p:spPr>
          <a:xfrm>
            <a:off x="9709646" y="3788172"/>
            <a:ext cx="1460004" cy="325041"/>
          </a:xfrm>
          <a:custGeom>
            <a:avLst/>
            <a:gdLst/>
            <a:ahLst/>
            <a:cxnLst/>
            <a:rect l="l" t="t" r="r" b="b"/>
            <a:pathLst>
              <a:path w="1460004" h="325041">
                <a:moveTo>
                  <a:pt x="162520" y="0"/>
                </a:moveTo>
                <a:lnTo>
                  <a:pt x="1297484" y="0"/>
                </a:lnTo>
                <a:arcTo wR="162520" hR="162520" stAng="16200000" swAng="5400000"/>
                <a:lnTo>
                  <a:pt x="1460004" y="162520"/>
                </a:lnTo>
                <a:arcTo wR="162520" hR="162520" stAng="0" swAng="5400000"/>
                <a:lnTo>
                  <a:pt x="162520" y="325041"/>
                </a:lnTo>
                <a:arcTo wR="162520" hR="162520" stAng="5400000" swAng="5400000"/>
                <a:lnTo>
                  <a:pt x="0" y="162520"/>
                </a:lnTo>
                <a:arcTo wR="162520" hR="162520" stAng="10800000" swAng="5400000"/>
                <a:close/>
              </a:path>
            </a:pathLst>
          </a:custGeom>
          <a:solidFill>
            <a:srgbClr val="E3EEFA"/>
          </a:solidFill>
          <a:ln/>
        </p:spPr>
        <p:txBody>
          <a:bodyPr wrap="none" lIns="0" tIns="0" rIns="0" bIns="0" rtlCol="0" anchor="ctr">
            <a:normAutofit/>
          </a:bodyPr>
          <a:lstStyle/>
          <a:p>
            <a:pPr marL="0" indent="0" algn="ctr">
              <a:lnSpc>
                <a:spcPts val="1960"/>
              </a:lnSpc>
              <a:buNone/>
            </a:pPr>
            <a:r>
              <a:rPr lang="en-US" sz="1400" b="1" dirty="0">
                <a:solidFill>
                  <a:srgbClr val="2563B8"/>
                </a:solidFill>
                <a:latin typeface="Arial" pitchFamily="34" charset="0"/>
                <a:ea typeface="Arial" pitchFamily="34" charset="-122"/>
                <a:cs typeface="Arial" pitchFamily="34" charset="-120"/>
              </a:rPr>
              <a:t>10/10 · succès</a:t>
            </a:r>
            <a:endParaRPr lang="en-US" sz="1400" dirty="0"/>
          </a:p>
        </p:txBody>
      </p:sp>
      <p:sp>
        <p:nvSpPr>
          <p:cNvPr id="31" name="Text 25"/>
          <p:cNvSpPr/>
          <p:nvPr/>
        </p:nvSpPr>
        <p:spPr>
          <a:xfrm>
            <a:off x="1022350" y="4214813"/>
            <a:ext cx="3043734" cy="391120"/>
          </a:xfrm>
          <a:prstGeom prst="roundRect">
            <a:avLst>
              <a:gd name="adj" fmla="val 16235"/>
            </a:avLst>
          </a:prstGeom>
          <a:solidFill>
            <a:srgbClr val="F0F4F9"/>
          </a:solidFill>
          <a:ln/>
        </p:spPr>
        <p:txBody>
          <a:bodyPr wrap="square" lIns="40393" tIns="70301" rIns="40393" bIns="4490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Premiers caractères reçus</a:t>
            </a:r>
            <a:endParaRPr lang="en-US" sz="1200" dirty="0"/>
          </a:p>
        </p:txBody>
      </p:sp>
      <p:pic>
        <p:nvPicPr>
          <p:cNvPr id="32" name="Image 4" descr="arrow-right"/>
          <p:cNvPicPr>
            <a:picLocks noChangeAspect="1"/>
          </p:cNvPicPr>
          <p:nvPr/>
        </p:nvPicPr>
        <p:blipFill>
          <a:blip r:embed="rId4"/>
          <a:srcRect/>
          <a:stretch/>
        </p:blipFill>
        <p:spPr>
          <a:xfrm>
            <a:off x="4167684" y="4321473"/>
            <a:ext cx="304800" cy="177800"/>
          </a:xfrm>
          <a:prstGeom prst="rect">
            <a:avLst/>
          </a:prstGeom>
        </p:spPr>
      </p:pic>
      <p:sp>
        <p:nvSpPr>
          <p:cNvPr id="33" name="Text 26"/>
          <p:cNvSpPr/>
          <p:nvPr/>
        </p:nvSpPr>
        <p:spPr>
          <a:xfrm>
            <a:off x="4574084" y="4214813"/>
            <a:ext cx="3043734" cy="391120"/>
          </a:xfrm>
          <a:prstGeom prst="roundRect">
            <a:avLst>
              <a:gd name="adj" fmla="val 16235"/>
            </a:avLst>
          </a:prstGeom>
          <a:solidFill>
            <a:srgbClr val="F0F4F9"/>
          </a:solidFill>
          <a:ln/>
        </p:spPr>
        <p:txBody>
          <a:bodyPr wrap="square" lIns="40393" tIns="70301" rIns="40393" bIns="4490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Assertion réessayée ≤ 30 s</a:t>
            </a:r>
            <a:endParaRPr lang="en-US" sz="1200" dirty="0"/>
          </a:p>
        </p:txBody>
      </p:sp>
      <p:pic>
        <p:nvPicPr>
          <p:cNvPr id="34" name="Image 5" descr="arrow-right"/>
          <p:cNvPicPr>
            <a:picLocks noChangeAspect="1"/>
          </p:cNvPicPr>
          <p:nvPr/>
        </p:nvPicPr>
        <p:blipFill>
          <a:blip r:embed="rId4"/>
          <a:srcRect/>
          <a:stretch/>
        </p:blipFill>
        <p:spPr>
          <a:xfrm>
            <a:off x="7719417" y="4321473"/>
            <a:ext cx="304800" cy="177800"/>
          </a:xfrm>
          <a:prstGeom prst="rect">
            <a:avLst/>
          </a:prstGeom>
        </p:spPr>
      </p:pic>
      <p:sp>
        <p:nvSpPr>
          <p:cNvPr id="35" name="Text 27"/>
          <p:cNvSpPr/>
          <p:nvPr/>
        </p:nvSpPr>
        <p:spPr>
          <a:xfrm>
            <a:off x="8125817" y="4214813"/>
            <a:ext cx="3043734" cy="391120"/>
          </a:xfrm>
          <a:prstGeom prst="roundRect">
            <a:avLst>
              <a:gd name="adj" fmla="val 16235"/>
            </a:avLst>
          </a:prstGeom>
          <a:solidFill>
            <a:srgbClr val="0E2A47"/>
          </a:solidFill>
          <a:ln/>
        </p:spPr>
        <p:txBody>
          <a:bodyPr wrap="square" lIns="40393" tIns="70301" rIns="40393" bIns="44901" rtlCol="0" anchor="t">
            <a:normAutofit/>
          </a:bodyPr>
          <a:lstStyle/>
          <a:p>
            <a:pPr marL="0" indent="0" algn="ctr">
              <a:lnSpc>
                <a:spcPts val="1680"/>
              </a:lnSpc>
              <a:buNone/>
            </a:pPr>
            <a:r>
              <a:rPr lang="en-US" sz="1200" b="1" dirty="0">
                <a:solidFill>
                  <a:srgbClr val="F4F7FB"/>
                </a:solidFill>
                <a:latin typeface="Arial" pitchFamily="34" charset="0"/>
                <a:ea typeface="Arial" pitchFamily="34" charset="-122"/>
                <a:cs typeface="Arial" pitchFamily="34" charset="-120"/>
              </a:rPr>
              <a:t>Texte complet détecté</a:t>
            </a:r>
            <a:endParaRPr lang="en-US" sz="1200" dirty="0"/>
          </a:p>
        </p:txBody>
      </p:sp>
      <p:sp>
        <p:nvSpPr>
          <p:cNvPr id="36" name="Text 28"/>
          <p:cNvSpPr/>
          <p:nvPr/>
        </p:nvSpPr>
        <p:spPr>
          <a:xfrm>
            <a:off x="1022350" y="4707533"/>
            <a:ext cx="27470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Réponse au moment de la lecture</a:t>
            </a:r>
            <a:endParaRPr lang="en-US" sz="1200" dirty="0"/>
          </a:p>
        </p:txBody>
      </p:sp>
      <p:sp>
        <p:nvSpPr>
          <p:cNvPr id="37" name="Shape 29"/>
          <p:cNvSpPr/>
          <p:nvPr/>
        </p:nvSpPr>
        <p:spPr>
          <a:xfrm>
            <a:off x="3790950" y="4737993"/>
            <a:ext cx="486866" cy="152400"/>
          </a:xfrm>
          <a:prstGeom prst="roundRect">
            <a:avLst>
              <a:gd name="adj" fmla="val 16667"/>
            </a:avLst>
          </a:prstGeom>
          <a:solidFill>
            <a:srgbClr val="2563B8"/>
          </a:solidFill>
          <a:ln/>
        </p:spPr>
        <p:txBody>
          <a:bodyPr/>
          <a:lstStyle/>
          <a:p>
            <a:endParaRPr lang="fr-FR"/>
          </a:p>
        </p:txBody>
      </p:sp>
      <p:sp>
        <p:nvSpPr>
          <p:cNvPr id="38" name="Shape 30"/>
          <p:cNvSpPr/>
          <p:nvPr/>
        </p:nvSpPr>
        <p:spPr>
          <a:xfrm>
            <a:off x="4315916" y="4737993"/>
            <a:ext cx="486866" cy="152400"/>
          </a:xfrm>
          <a:prstGeom prst="roundRect">
            <a:avLst>
              <a:gd name="adj" fmla="val 16667"/>
            </a:avLst>
          </a:prstGeom>
          <a:solidFill>
            <a:srgbClr val="2563B8"/>
          </a:solidFill>
          <a:ln/>
        </p:spPr>
        <p:txBody>
          <a:bodyPr/>
          <a:lstStyle/>
          <a:p>
            <a:endParaRPr lang="fr-FR"/>
          </a:p>
        </p:txBody>
      </p:sp>
      <p:sp>
        <p:nvSpPr>
          <p:cNvPr id="39" name="Shape 31"/>
          <p:cNvSpPr/>
          <p:nvPr/>
        </p:nvSpPr>
        <p:spPr>
          <a:xfrm>
            <a:off x="4840883" y="4737993"/>
            <a:ext cx="486866" cy="152400"/>
          </a:xfrm>
          <a:prstGeom prst="roundRect">
            <a:avLst>
              <a:gd name="adj" fmla="val 16667"/>
            </a:avLst>
          </a:prstGeom>
          <a:solidFill>
            <a:srgbClr val="2563B8"/>
          </a:solidFill>
          <a:ln/>
        </p:spPr>
        <p:txBody>
          <a:bodyPr/>
          <a:lstStyle/>
          <a:p>
            <a:endParaRPr lang="fr-FR"/>
          </a:p>
        </p:txBody>
      </p:sp>
      <p:sp>
        <p:nvSpPr>
          <p:cNvPr id="40" name="Shape 32"/>
          <p:cNvSpPr/>
          <p:nvPr/>
        </p:nvSpPr>
        <p:spPr>
          <a:xfrm>
            <a:off x="5365849" y="4737993"/>
            <a:ext cx="486866" cy="152400"/>
          </a:xfrm>
          <a:prstGeom prst="roundRect">
            <a:avLst>
              <a:gd name="adj" fmla="val 16667"/>
            </a:avLst>
          </a:prstGeom>
          <a:solidFill>
            <a:srgbClr val="2563B8"/>
          </a:solidFill>
          <a:ln/>
        </p:spPr>
        <p:txBody>
          <a:bodyPr/>
          <a:lstStyle/>
          <a:p>
            <a:endParaRPr lang="fr-FR"/>
          </a:p>
        </p:txBody>
      </p:sp>
      <p:sp>
        <p:nvSpPr>
          <p:cNvPr id="41" name="Shape 33"/>
          <p:cNvSpPr/>
          <p:nvPr/>
        </p:nvSpPr>
        <p:spPr>
          <a:xfrm>
            <a:off x="5890816" y="4737993"/>
            <a:ext cx="486866" cy="152400"/>
          </a:xfrm>
          <a:prstGeom prst="roundRect">
            <a:avLst>
              <a:gd name="adj" fmla="val 16667"/>
            </a:avLst>
          </a:prstGeom>
          <a:solidFill>
            <a:srgbClr val="2563B8"/>
          </a:solidFill>
          <a:ln/>
        </p:spPr>
        <p:txBody>
          <a:bodyPr/>
          <a:lstStyle/>
          <a:p>
            <a:endParaRPr lang="fr-FR"/>
          </a:p>
        </p:txBody>
      </p:sp>
      <p:sp>
        <p:nvSpPr>
          <p:cNvPr id="42" name="Shape 34"/>
          <p:cNvSpPr/>
          <p:nvPr/>
        </p:nvSpPr>
        <p:spPr>
          <a:xfrm>
            <a:off x="6415782" y="4737993"/>
            <a:ext cx="486866" cy="152400"/>
          </a:xfrm>
          <a:prstGeom prst="roundRect">
            <a:avLst>
              <a:gd name="adj" fmla="val 16667"/>
            </a:avLst>
          </a:prstGeom>
          <a:solidFill>
            <a:srgbClr val="2563B8"/>
          </a:solidFill>
          <a:ln/>
        </p:spPr>
        <p:txBody>
          <a:bodyPr/>
          <a:lstStyle/>
          <a:p>
            <a:endParaRPr lang="fr-FR"/>
          </a:p>
        </p:txBody>
      </p:sp>
      <p:sp>
        <p:nvSpPr>
          <p:cNvPr id="43" name="Shape 35"/>
          <p:cNvSpPr/>
          <p:nvPr/>
        </p:nvSpPr>
        <p:spPr>
          <a:xfrm>
            <a:off x="6940748" y="4737993"/>
            <a:ext cx="486866" cy="152400"/>
          </a:xfrm>
          <a:prstGeom prst="roundRect">
            <a:avLst>
              <a:gd name="adj" fmla="val 16667"/>
            </a:avLst>
          </a:prstGeom>
          <a:solidFill>
            <a:srgbClr val="2563B8"/>
          </a:solidFill>
          <a:ln/>
        </p:spPr>
        <p:txBody>
          <a:bodyPr/>
          <a:lstStyle/>
          <a:p>
            <a:endParaRPr lang="fr-FR"/>
          </a:p>
        </p:txBody>
      </p:sp>
      <p:sp>
        <p:nvSpPr>
          <p:cNvPr id="44" name="Shape 36"/>
          <p:cNvSpPr/>
          <p:nvPr/>
        </p:nvSpPr>
        <p:spPr>
          <a:xfrm>
            <a:off x="7465715" y="4737993"/>
            <a:ext cx="486866" cy="152400"/>
          </a:xfrm>
          <a:prstGeom prst="roundRect">
            <a:avLst>
              <a:gd name="adj" fmla="val 16667"/>
            </a:avLst>
          </a:prstGeom>
          <a:solidFill>
            <a:srgbClr val="2563B8"/>
          </a:solidFill>
          <a:ln/>
        </p:spPr>
        <p:txBody>
          <a:bodyPr/>
          <a:lstStyle/>
          <a:p>
            <a:endParaRPr lang="fr-FR"/>
          </a:p>
        </p:txBody>
      </p:sp>
      <p:sp>
        <p:nvSpPr>
          <p:cNvPr id="45" name="Shape 37"/>
          <p:cNvSpPr/>
          <p:nvPr/>
        </p:nvSpPr>
        <p:spPr>
          <a:xfrm>
            <a:off x="7990681" y="4737993"/>
            <a:ext cx="486866" cy="152400"/>
          </a:xfrm>
          <a:prstGeom prst="roundRect">
            <a:avLst>
              <a:gd name="adj" fmla="val 16667"/>
            </a:avLst>
          </a:prstGeom>
          <a:solidFill>
            <a:srgbClr val="2563B8"/>
          </a:solidFill>
          <a:ln/>
        </p:spPr>
        <p:txBody>
          <a:bodyPr/>
          <a:lstStyle/>
          <a:p>
            <a:endParaRPr lang="fr-FR"/>
          </a:p>
        </p:txBody>
      </p:sp>
      <p:sp>
        <p:nvSpPr>
          <p:cNvPr id="46" name="Shape 38"/>
          <p:cNvSpPr/>
          <p:nvPr/>
        </p:nvSpPr>
        <p:spPr>
          <a:xfrm>
            <a:off x="8515648" y="4737993"/>
            <a:ext cx="486866" cy="152400"/>
          </a:xfrm>
          <a:prstGeom prst="roundRect">
            <a:avLst>
              <a:gd name="adj" fmla="val 16667"/>
            </a:avLst>
          </a:prstGeom>
          <a:solidFill>
            <a:srgbClr val="2563B8"/>
          </a:solidFill>
          <a:ln/>
        </p:spPr>
        <p:txBody>
          <a:bodyPr/>
          <a:lstStyle/>
          <a:p>
            <a:endParaRPr lang="fr-FR"/>
          </a:p>
        </p:txBody>
      </p:sp>
      <p:sp>
        <p:nvSpPr>
          <p:cNvPr id="47" name="Shape 39"/>
          <p:cNvSpPr/>
          <p:nvPr/>
        </p:nvSpPr>
        <p:spPr>
          <a:xfrm>
            <a:off x="9040614" y="4737993"/>
            <a:ext cx="486866" cy="152400"/>
          </a:xfrm>
          <a:prstGeom prst="roundRect">
            <a:avLst>
              <a:gd name="adj" fmla="val 16667"/>
            </a:avLst>
          </a:prstGeom>
          <a:solidFill>
            <a:srgbClr val="2563B8"/>
          </a:solidFill>
          <a:ln/>
        </p:spPr>
        <p:txBody>
          <a:bodyPr/>
          <a:lstStyle/>
          <a:p>
            <a:endParaRPr lang="fr-FR"/>
          </a:p>
        </p:txBody>
      </p:sp>
      <p:sp>
        <p:nvSpPr>
          <p:cNvPr id="48" name="Shape 40"/>
          <p:cNvSpPr/>
          <p:nvPr/>
        </p:nvSpPr>
        <p:spPr>
          <a:xfrm>
            <a:off x="9565580" y="4737993"/>
            <a:ext cx="486866" cy="152400"/>
          </a:xfrm>
          <a:prstGeom prst="roundRect">
            <a:avLst>
              <a:gd name="adj" fmla="val 16667"/>
            </a:avLst>
          </a:prstGeom>
          <a:solidFill>
            <a:srgbClr val="2563B8"/>
          </a:solidFill>
          <a:ln/>
        </p:spPr>
        <p:txBody>
          <a:bodyPr/>
          <a:lstStyle/>
          <a:p>
            <a:endParaRPr lang="fr-FR"/>
          </a:p>
        </p:txBody>
      </p:sp>
      <p:sp>
        <p:nvSpPr>
          <p:cNvPr id="49" name="Text 41"/>
          <p:cNvSpPr/>
          <p:nvPr/>
        </p:nvSpPr>
        <p:spPr>
          <a:xfrm>
            <a:off x="10153650" y="4707533"/>
            <a:ext cx="1066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B8"/>
                </a:solidFill>
                <a:latin typeface="Arial" pitchFamily="34" charset="0"/>
                <a:ea typeface="Arial" pitchFamily="34" charset="-122"/>
                <a:cs typeface="Arial" pitchFamily="34" charset="-120"/>
              </a:rPr>
              <a:t>complète</a:t>
            </a:r>
            <a:endParaRPr lang="en-US" sz="1200" dirty="0"/>
          </a:p>
        </p:txBody>
      </p:sp>
      <p:sp>
        <p:nvSpPr>
          <p:cNvPr id="50" name="Text 4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8 · même scénario : ~25 mots streamés avec un délai aléatoire (jitter)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RÉSULTATS MESURÉS</a:t>
            </a:r>
            <a:endParaRPr lang="en-US" sz="1200" dirty="0"/>
          </a:p>
        </p:txBody>
      </p:sp>
      <p:sp>
        <p:nvSpPr>
          <p:cNvPr id="3" name="Text 1"/>
          <p:cNvSpPr>
            <a:spLocks noGrp="1"/>
          </p:cNvSpPr>
          <p:nvPr>
            <p:ph type="title"/>
          </p:nvPr>
        </p:nvSpPr>
        <p:spPr>
          <a:xfrm>
            <a:off x="812800" y="1229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Des résultats mesurés, pas supposés</a:t>
            </a:r>
            <a:endParaRPr lang="en-US" sz="3200" dirty="0"/>
          </a:p>
        </p:txBody>
      </p:sp>
      <p:sp>
        <p:nvSpPr>
          <p:cNvPr id="4" name="Shape 2"/>
          <p:cNvSpPr/>
          <p:nvPr/>
        </p:nvSpPr>
        <p:spPr>
          <a:xfrm>
            <a:off x="815975" y="1903016"/>
            <a:ext cx="10560050" cy="1565870"/>
          </a:xfrm>
          <a:prstGeom prst="roundRect">
            <a:avLst>
              <a:gd name="adj" fmla="val 6286"/>
            </a:avLst>
          </a:prstGeom>
          <a:solidFill>
            <a:srgbClr val="FBFCFE"/>
          </a:solidFill>
          <a:ln w="6350">
            <a:solidFill>
              <a:srgbClr val="C9D8EA"/>
            </a:solidFill>
            <a:prstDash val="solid"/>
          </a:ln>
        </p:spPr>
        <p:txBody>
          <a:bodyPr/>
          <a:lstStyle/>
          <a:p>
            <a:endParaRPr lang="fr-FR"/>
          </a:p>
        </p:txBody>
      </p:sp>
      <p:sp>
        <p:nvSpPr>
          <p:cNvPr id="5" name="Text 3"/>
          <p:cNvSpPr/>
          <p:nvPr/>
        </p:nvSpPr>
        <p:spPr>
          <a:xfrm>
            <a:off x="1022350" y="2142430"/>
            <a:ext cx="235458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2563B8"/>
                </a:solidFill>
                <a:latin typeface="Arial" pitchFamily="34" charset="0"/>
                <a:ea typeface="Arial" pitchFamily="34" charset="-122"/>
                <a:cs typeface="Arial" pitchFamily="34" charset="-120"/>
              </a:rPr>
              <a:t>160/160</a:t>
            </a:r>
            <a:endParaRPr lang="en-US" sz="4800" dirty="0"/>
          </a:p>
        </p:txBody>
      </p:sp>
      <p:sp>
        <p:nvSpPr>
          <p:cNvPr id="6" name="Text 4"/>
          <p:cNvSpPr/>
          <p:nvPr/>
        </p:nvSpPr>
        <p:spPr>
          <a:xfrm>
            <a:off x="1022350" y="2802830"/>
            <a:ext cx="23545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exécutions réussies : 16 scénarios × 10 runs, sans retry</a:t>
            </a:r>
            <a:endParaRPr lang="en-US" sz="1200" dirty="0"/>
          </a:p>
        </p:txBody>
      </p:sp>
      <p:sp>
        <p:nvSpPr>
          <p:cNvPr id="7" name="Text 5"/>
          <p:cNvSpPr/>
          <p:nvPr/>
        </p:nvSpPr>
        <p:spPr>
          <a:xfrm>
            <a:off x="356235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8" name="Text 6"/>
          <p:cNvSpPr/>
          <p:nvPr/>
        </p:nvSpPr>
        <p:spPr>
          <a:xfrm>
            <a:off x="378559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R1</a:t>
            </a:r>
            <a:endParaRPr lang="en-US" sz="1200" dirty="0"/>
          </a:p>
        </p:txBody>
      </p:sp>
      <p:sp>
        <p:nvSpPr>
          <p:cNvPr id="9" name="Text 7"/>
          <p:cNvSpPr/>
          <p:nvPr/>
        </p:nvSpPr>
        <p:spPr>
          <a:xfrm>
            <a:off x="433070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10" name="Text 8"/>
          <p:cNvSpPr/>
          <p:nvPr/>
        </p:nvSpPr>
        <p:spPr>
          <a:xfrm>
            <a:off x="455394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R2</a:t>
            </a:r>
            <a:endParaRPr lang="en-US" sz="1200" dirty="0"/>
          </a:p>
        </p:txBody>
      </p:sp>
      <p:sp>
        <p:nvSpPr>
          <p:cNvPr id="11" name="Text 9"/>
          <p:cNvSpPr/>
          <p:nvPr/>
        </p:nvSpPr>
        <p:spPr>
          <a:xfrm>
            <a:off x="509905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12" name="Text 10"/>
          <p:cNvSpPr/>
          <p:nvPr/>
        </p:nvSpPr>
        <p:spPr>
          <a:xfrm>
            <a:off x="532229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R3</a:t>
            </a:r>
            <a:endParaRPr lang="en-US" sz="1200" dirty="0"/>
          </a:p>
        </p:txBody>
      </p:sp>
      <p:sp>
        <p:nvSpPr>
          <p:cNvPr id="13" name="Text 11"/>
          <p:cNvSpPr/>
          <p:nvPr/>
        </p:nvSpPr>
        <p:spPr>
          <a:xfrm>
            <a:off x="586740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14" name="Text 12"/>
          <p:cNvSpPr/>
          <p:nvPr/>
        </p:nvSpPr>
        <p:spPr>
          <a:xfrm>
            <a:off x="609064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R4</a:t>
            </a:r>
            <a:endParaRPr lang="en-US" sz="1200" dirty="0"/>
          </a:p>
        </p:txBody>
      </p:sp>
      <p:sp>
        <p:nvSpPr>
          <p:cNvPr id="15" name="Text 13"/>
          <p:cNvSpPr/>
          <p:nvPr/>
        </p:nvSpPr>
        <p:spPr>
          <a:xfrm>
            <a:off x="663575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16" name="Text 14"/>
          <p:cNvSpPr/>
          <p:nvPr/>
        </p:nvSpPr>
        <p:spPr>
          <a:xfrm>
            <a:off x="685899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R5</a:t>
            </a:r>
            <a:endParaRPr lang="en-US" sz="1200" dirty="0"/>
          </a:p>
        </p:txBody>
      </p:sp>
      <p:sp>
        <p:nvSpPr>
          <p:cNvPr id="17" name="Text 15"/>
          <p:cNvSpPr/>
          <p:nvPr/>
        </p:nvSpPr>
        <p:spPr>
          <a:xfrm>
            <a:off x="740410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18" name="Text 16"/>
          <p:cNvSpPr/>
          <p:nvPr/>
        </p:nvSpPr>
        <p:spPr>
          <a:xfrm>
            <a:off x="762734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R6</a:t>
            </a:r>
            <a:endParaRPr lang="en-US" sz="1200" dirty="0"/>
          </a:p>
        </p:txBody>
      </p:sp>
      <p:sp>
        <p:nvSpPr>
          <p:cNvPr id="19" name="Text 17"/>
          <p:cNvSpPr/>
          <p:nvPr/>
        </p:nvSpPr>
        <p:spPr>
          <a:xfrm>
            <a:off x="817245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20" name="Text 18"/>
          <p:cNvSpPr/>
          <p:nvPr/>
        </p:nvSpPr>
        <p:spPr>
          <a:xfrm>
            <a:off x="839569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R7</a:t>
            </a:r>
            <a:endParaRPr lang="en-US" sz="1200" dirty="0"/>
          </a:p>
        </p:txBody>
      </p:sp>
      <p:sp>
        <p:nvSpPr>
          <p:cNvPr id="21" name="Text 19"/>
          <p:cNvSpPr/>
          <p:nvPr/>
        </p:nvSpPr>
        <p:spPr>
          <a:xfrm>
            <a:off x="894080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22" name="Text 20"/>
          <p:cNvSpPr/>
          <p:nvPr/>
        </p:nvSpPr>
        <p:spPr>
          <a:xfrm>
            <a:off x="916404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R8</a:t>
            </a:r>
            <a:endParaRPr lang="en-US" sz="1200" dirty="0"/>
          </a:p>
        </p:txBody>
      </p:sp>
      <p:sp>
        <p:nvSpPr>
          <p:cNvPr id="23" name="Text 21"/>
          <p:cNvSpPr/>
          <p:nvPr/>
        </p:nvSpPr>
        <p:spPr>
          <a:xfrm>
            <a:off x="970915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24" name="Text 22"/>
          <p:cNvSpPr/>
          <p:nvPr/>
        </p:nvSpPr>
        <p:spPr>
          <a:xfrm>
            <a:off x="993239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R9</a:t>
            </a:r>
            <a:endParaRPr lang="en-US" sz="1200" dirty="0"/>
          </a:p>
        </p:txBody>
      </p:sp>
      <p:sp>
        <p:nvSpPr>
          <p:cNvPr id="25" name="Text 23"/>
          <p:cNvSpPr/>
          <p:nvPr/>
        </p:nvSpPr>
        <p:spPr>
          <a:xfrm>
            <a:off x="1047750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26" name="Text 24"/>
          <p:cNvSpPr/>
          <p:nvPr/>
        </p:nvSpPr>
        <p:spPr>
          <a:xfrm>
            <a:off x="10655816" y="3049191"/>
            <a:ext cx="33551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R10</a:t>
            </a:r>
            <a:endParaRPr lang="en-US" sz="1200" dirty="0"/>
          </a:p>
        </p:txBody>
      </p:sp>
      <p:sp>
        <p:nvSpPr>
          <p:cNvPr id="27" name="Shape 25"/>
          <p:cNvSpPr/>
          <p:nvPr/>
        </p:nvSpPr>
        <p:spPr>
          <a:xfrm>
            <a:off x="815975" y="3678436"/>
            <a:ext cx="3414117" cy="1205111"/>
          </a:xfrm>
          <a:prstGeom prst="roundRect">
            <a:avLst>
              <a:gd name="adj" fmla="val 8167"/>
            </a:avLst>
          </a:prstGeom>
          <a:solidFill>
            <a:srgbClr val="FBFCFE"/>
          </a:solidFill>
          <a:ln w="6350">
            <a:solidFill>
              <a:srgbClr val="C9D8EA"/>
            </a:solidFill>
            <a:prstDash val="solid"/>
          </a:ln>
        </p:spPr>
        <p:txBody>
          <a:bodyPr/>
          <a:lstStyle/>
          <a:p>
            <a:endParaRPr lang="fr-FR"/>
          </a:p>
        </p:txBody>
      </p:sp>
      <p:pic>
        <p:nvPicPr>
          <p:cNvPr id="28" name="Image 0" descr="CheckCircle"/>
          <p:cNvPicPr>
            <a:picLocks noChangeAspect="1"/>
          </p:cNvPicPr>
          <p:nvPr/>
        </p:nvPicPr>
        <p:blipFill>
          <a:blip r:embed="rId3"/>
          <a:srcRect/>
          <a:stretch/>
        </p:blipFill>
        <p:spPr>
          <a:xfrm>
            <a:off x="996950" y="4115891"/>
            <a:ext cx="266700" cy="330200"/>
          </a:xfrm>
          <a:prstGeom prst="rect">
            <a:avLst/>
          </a:prstGeom>
        </p:spPr>
      </p:pic>
      <p:sp>
        <p:nvSpPr>
          <p:cNvPr id="29" name="Text 26"/>
          <p:cNvSpPr/>
          <p:nvPr/>
        </p:nvSpPr>
        <p:spPr>
          <a:xfrm>
            <a:off x="1390650" y="3859411"/>
            <a:ext cx="2738221"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E2A47"/>
                </a:solidFill>
                <a:latin typeface="Arial" pitchFamily="34" charset="0"/>
                <a:ea typeface="Arial" pitchFamily="34" charset="-122"/>
                <a:cs typeface="Arial" pitchFamily="34" charset="-120"/>
              </a:rPr>
              <a:t>17/17</a:t>
            </a:r>
            <a:endParaRPr lang="en-US" sz="2800" dirty="0"/>
          </a:p>
        </p:txBody>
      </p:sp>
      <p:sp>
        <p:nvSpPr>
          <p:cNvPr id="30" name="Text 27"/>
          <p:cNvSpPr/>
          <p:nvPr/>
        </p:nvSpPr>
        <p:spPr>
          <a:xfrm>
            <a:off x="1390650" y="4275931"/>
            <a:ext cx="273822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tests Playwright en 36 s (16 scénarios + 1 setup)</a:t>
            </a:r>
            <a:endParaRPr lang="en-US" sz="1200" dirty="0"/>
          </a:p>
        </p:txBody>
      </p:sp>
      <p:sp>
        <p:nvSpPr>
          <p:cNvPr id="31" name="Shape 28"/>
          <p:cNvSpPr/>
          <p:nvPr/>
        </p:nvSpPr>
        <p:spPr>
          <a:xfrm>
            <a:off x="4388842" y="3678436"/>
            <a:ext cx="3414216" cy="1205111"/>
          </a:xfrm>
          <a:prstGeom prst="roundRect">
            <a:avLst>
              <a:gd name="adj" fmla="val 8167"/>
            </a:avLst>
          </a:prstGeom>
          <a:solidFill>
            <a:srgbClr val="FBFCFE"/>
          </a:solidFill>
          <a:ln w="6350">
            <a:solidFill>
              <a:srgbClr val="C9D8EA"/>
            </a:solidFill>
            <a:prstDash val="solid"/>
          </a:ln>
        </p:spPr>
        <p:txBody>
          <a:bodyPr/>
          <a:lstStyle/>
          <a:p>
            <a:endParaRPr lang="fr-FR"/>
          </a:p>
        </p:txBody>
      </p:sp>
      <p:pic>
        <p:nvPicPr>
          <p:cNvPr id="32" name="Image 1" descr="Verified"/>
          <p:cNvPicPr>
            <a:picLocks noChangeAspect="1"/>
          </p:cNvPicPr>
          <p:nvPr/>
        </p:nvPicPr>
        <p:blipFill>
          <a:blip r:embed="rId4"/>
          <a:srcRect/>
          <a:stretch/>
        </p:blipFill>
        <p:spPr>
          <a:xfrm>
            <a:off x="4569817" y="4115891"/>
            <a:ext cx="285750" cy="330200"/>
          </a:xfrm>
          <a:prstGeom prst="rect">
            <a:avLst/>
          </a:prstGeom>
        </p:spPr>
      </p:pic>
      <p:sp>
        <p:nvSpPr>
          <p:cNvPr id="33" name="Text 29"/>
          <p:cNvSpPr/>
          <p:nvPr/>
        </p:nvSpPr>
        <p:spPr>
          <a:xfrm>
            <a:off x="4982567" y="3859411"/>
            <a:ext cx="271870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E2A47"/>
                </a:solidFill>
                <a:latin typeface="Arial" pitchFamily="34" charset="0"/>
                <a:ea typeface="Arial" pitchFamily="34" charset="-122"/>
                <a:cs typeface="Arial" pitchFamily="34" charset="-120"/>
              </a:rPr>
              <a:t>0</a:t>
            </a:r>
            <a:endParaRPr lang="en-US" sz="2800" dirty="0"/>
          </a:p>
        </p:txBody>
      </p:sp>
      <p:sp>
        <p:nvSpPr>
          <p:cNvPr id="34" name="Text 30"/>
          <p:cNvSpPr/>
          <p:nvPr/>
        </p:nvSpPr>
        <p:spPr>
          <a:xfrm>
            <a:off x="4982567" y="4275931"/>
            <a:ext cx="271870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échec et 0 test ignoré dans la suite principale</a:t>
            </a:r>
            <a:endParaRPr lang="en-US" sz="1200" dirty="0"/>
          </a:p>
        </p:txBody>
      </p:sp>
      <p:sp>
        <p:nvSpPr>
          <p:cNvPr id="35" name="Shape 31"/>
          <p:cNvSpPr/>
          <p:nvPr/>
        </p:nvSpPr>
        <p:spPr>
          <a:xfrm>
            <a:off x="7961809" y="3678436"/>
            <a:ext cx="3414117" cy="1205111"/>
          </a:xfrm>
          <a:prstGeom prst="roundRect">
            <a:avLst>
              <a:gd name="adj" fmla="val 8167"/>
            </a:avLst>
          </a:prstGeom>
          <a:solidFill>
            <a:srgbClr val="FBFCFE"/>
          </a:solidFill>
          <a:ln w="6350">
            <a:solidFill>
              <a:srgbClr val="C9D8EA"/>
            </a:solidFill>
            <a:prstDash val="solid"/>
          </a:ln>
        </p:spPr>
        <p:txBody>
          <a:bodyPr/>
          <a:lstStyle/>
          <a:p>
            <a:endParaRPr lang="fr-FR"/>
          </a:p>
        </p:txBody>
      </p:sp>
      <p:pic>
        <p:nvPicPr>
          <p:cNvPr id="36" name="Image 2" descr="Clock"/>
          <p:cNvPicPr>
            <a:picLocks noChangeAspect="1"/>
          </p:cNvPicPr>
          <p:nvPr/>
        </p:nvPicPr>
        <p:blipFill>
          <a:blip r:embed="rId5"/>
          <a:srcRect/>
          <a:stretch/>
        </p:blipFill>
        <p:spPr>
          <a:xfrm>
            <a:off x="8142784" y="4115891"/>
            <a:ext cx="260350" cy="330200"/>
          </a:xfrm>
          <a:prstGeom prst="rect">
            <a:avLst/>
          </a:prstGeom>
        </p:spPr>
      </p:pic>
      <p:sp>
        <p:nvSpPr>
          <p:cNvPr id="37" name="Text 32"/>
          <p:cNvSpPr/>
          <p:nvPr/>
        </p:nvSpPr>
        <p:spPr>
          <a:xfrm>
            <a:off x="8530134" y="3859411"/>
            <a:ext cx="274476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E2A47"/>
                </a:solidFill>
                <a:latin typeface="Arial" pitchFamily="34" charset="0"/>
                <a:ea typeface="Arial" pitchFamily="34" charset="-122"/>
                <a:cs typeface="Arial" pitchFamily="34" charset="-120"/>
              </a:rPr>
              <a:t>44,2 s</a:t>
            </a:r>
            <a:endParaRPr lang="en-US" sz="2800" dirty="0"/>
          </a:p>
        </p:txBody>
      </p:sp>
      <p:sp>
        <p:nvSpPr>
          <p:cNvPr id="38" name="Text 33"/>
          <p:cNvSpPr/>
          <p:nvPr/>
        </p:nvSpPr>
        <p:spPr>
          <a:xfrm>
            <a:off x="8530134" y="4275931"/>
            <a:ext cx="274476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par cycle complet en moyenne, baseline comprise</a:t>
            </a:r>
            <a:endParaRPr lang="en-US" sz="1200" dirty="0"/>
          </a:p>
        </p:txBody>
      </p:sp>
      <p:sp>
        <p:nvSpPr>
          <p:cNvPr id="39" name="Text 34"/>
          <p:cNvSpPr/>
          <p:nvPr/>
        </p:nvSpPr>
        <p:spPr>
          <a:xfrm>
            <a:off x="812800" y="5089922"/>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Campagne locale du 26/10/2026 · reports/flakiness.md · la baseline (0/10, attendu) n’est pas comptée dans les 160 · commit de base 3307360, arbre de travail modifié au lancement</a:t>
            </a:r>
            <a:endParaRPr lang="en-US" sz="1200" dirty="0"/>
          </a:p>
        </p:txBody>
      </p:sp>
      <p:sp>
        <p:nvSpPr>
          <p:cNvPr id="40" name="Text 3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INTÉGRATION CONTINUE · GITHUB ACTIONS</a:t>
            </a:r>
            <a:endParaRPr lang="en-US" sz="1200" dirty="0"/>
          </a:p>
        </p:txBody>
      </p:sp>
      <p:sp>
        <p:nvSpPr>
          <p:cNvPr id="3" name="Text 1"/>
          <p:cNvSpPr>
            <a:spLocks noGrp="1"/>
          </p:cNvSpPr>
          <p:nvPr>
            <p:ph type="title"/>
          </p:nvPr>
        </p:nvSpPr>
        <p:spPr>
          <a:xfrm>
            <a:off x="812800" y="1203920"/>
            <a:ext cx="1137920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CI préparée — activation GitHub Actions non réalisée</a:t>
            </a:r>
            <a:endParaRPr lang="en-US" sz="3200" dirty="0"/>
          </a:p>
        </p:txBody>
      </p:sp>
      <p:pic>
        <p:nvPicPr>
          <p:cNvPr id="4" name="Image 0" descr="connector"/>
          <p:cNvPicPr>
            <a:picLocks noChangeAspect="1"/>
          </p:cNvPicPr>
          <p:nvPr/>
        </p:nvPicPr>
        <p:blipFill>
          <a:blip r:embed="rId3"/>
          <a:srcRect/>
          <a:stretch/>
        </p:blipFill>
        <p:spPr>
          <a:xfrm>
            <a:off x="2413000" y="2242741"/>
            <a:ext cx="101600" cy="355600"/>
          </a:xfrm>
          <a:prstGeom prst="rect">
            <a:avLst/>
          </a:prstGeom>
        </p:spPr>
      </p:pic>
      <p:pic>
        <p:nvPicPr>
          <p:cNvPr id="5" name="Image 1" descr="connector"/>
          <p:cNvPicPr>
            <a:picLocks noChangeAspect="1"/>
          </p:cNvPicPr>
          <p:nvPr/>
        </p:nvPicPr>
        <p:blipFill>
          <a:blip r:embed="rId4"/>
          <a:srcRect/>
          <a:stretch/>
        </p:blipFill>
        <p:spPr>
          <a:xfrm>
            <a:off x="2413000" y="3030141"/>
            <a:ext cx="101600" cy="266700"/>
          </a:xfrm>
          <a:prstGeom prst="rect">
            <a:avLst/>
          </a:prstGeom>
        </p:spPr>
      </p:pic>
      <p:pic>
        <p:nvPicPr>
          <p:cNvPr id="6" name="Image 2" descr="connector"/>
          <p:cNvPicPr>
            <a:picLocks noChangeAspect="1"/>
          </p:cNvPicPr>
          <p:nvPr/>
        </p:nvPicPr>
        <p:blipFill>
          <a:blip r:embed="rId4"/>
          <a:srcRect/>
          <a:stretch/>
        </p:blipFill>
        <p:spPr>
          <a:xfrm>
            <a:off x="2413000" y="3728641"/>
            <a:ext cx="101600" cy="266700"/>
          </a:xfrm>
          <a:prstGeom prst="rect">
            <a:avLst/>
          </a:prstGeom>
        </p:spPr>
      </p:pic>
      <p:pic>
        <p:nvPicPr>
          <p:cNvPr id="7" name="Image 3" descr="connector"/>
          <p:cNvPicPr>
            <a:picLocks noChangeAspect="1"/>
          </p:cNvPicPr>
          <p:nvPr/>
        </p:nvPicPr>
        <p:blipFill>
          <a:blip r:embed="rId4"/>
          <a:srcRect/>
          <a:stretch/>
        </p:blipFill>
        <p:spPr>
          <a:xfrm>
            <a:off x="2413000" y="4427141"/>
            <a:ext cx="101600" cy="266700"/>
          </a:xfrm>
          <a:prstGeom prst="rect">
            <a:avLst/>
          </a:prstGeom>
        </p:spPr>
      </p:pic>
      <p:pic>
        <p:nvPicPr>
          <p:cNvPr id="8" name="Image 4" descr="connector"/>
          <p:cNvPicPr>
            <a:picLocks noChangeAspect="1"/>
          </p:cNvPicPr>
          <p:nvPr/>
        </p:nvPicPr>
        <p:blipFill>
          <a:blip r:embed="rId5"/>
          <a:srcRect/>
          <a:stretch/>
        </p:blipFill>
        <p:spPr>
          <a:xfrm>
            <a:off x="3683000" y="4858941"/>
            <a:ext cx="736600" cy="152400"/>
          </a:xfrm>
          <a:prstGeom prst="rect">
            <a:avLst/>
          </a:prstGeom>
        </p:spPr>
      </p:pic>
      <p:pic>
        <p:nvPicPr>
          <p:cNvPr id="9" name="Image 5" descr="connector"/>
          <p:cNvPicPr>
            <a:picLocks noChangeAspect="1"/>
          </p:cNvPicPr>
          <p:nvPr/>
        </p:nvPicPr>
        <p:blipFill>
          <a:blip r:embed="rId6"/>
          <a:srcRect/>
          <a:stretch/>
        </p:blipFill>
        <p:spPr>
          <a:xfrm>
            <a:off x="4953000" y="4084241"/>
            <a:ext cx="101600" cy="482600"/>
          </a:xfrm>
          <a:prstGeom prst="rect">
            <a:avLst/>
          </a:prstGeom>
        </p:spPr>
      </p:pic>
      <p:pic>
        <p:nvPicPr>
          <p:cNvPr id="10" name="Image 6" descr="connector"/>
          <p:cNvPicPr>
            <a:picLocks noChangeAspect="1"/>
          </p:cNvPicPr>
          <p:nvPr/>
        </p:nvPicPr>
        <p:blipFill>
          <a:blip r:embed="rId7"/>
          <a:srcRect/>
          <a:stretch/>
        </p:blipFill>
        <p:spPr>
          <a:xfrm>
            <a:off x="5588000" y="4909741"/>
            <a:ext cx="736600" cy="101600"/>
          </a:xfrm>
          <a:prstGeom prst="rect">
            <a:avLst/>
          </a:prstGeom>
        </p:spPr>
      </p:pic>
      <p:sp>
        <p:nvSpPr>
          <p:cNvPr id="11" name="Text 2"/>
          <p:cNvSpPr/>
          <p:nvPr/>
        </p:nvSpPr>
        <p:spPr>
          <a:xfrm>
            <a:off x="1517650" y="1855391"/>
            <a:ext cx="1892300" cy="425450"/>
          </a:xfrm>
          <a:custGeom>
            <a:avLst/>
            <a:gdLst/>
            <a:ahLst/>
            <a:cxnLst/>
            <a:rect l="l" t="t" r="r" b="b"/>
            <a:pathLst>
              <a:path w="1892300" h="425450">
                <a:moveTo>
                  <a:pt x="212725" y="0"/>
                </a:moveTo>
                <a:lnTo>
                  <a:pt x="1679575" y="0"/>
                </a:lnTo>
                <a:arcTo wR="212725" hR="212725" stAng="16200000" swAng="5400000"/>
                <a:lnTo>
                  <a:pt x="1892300" y="212725"/>
                </a:lnTo>
                <a:arcTo wR="212725" hR="212725" stAng="0" swAng="5400000"/>
                <a:lnTo>
                  <a:pt x="212725" y="425450"/>
                </a:lnTo>
                <a:arcTo wR="212725" hR="212725" stAng="5400000" swAng="5400000"/>
                <a:lnTo>
                  <a:pt x="0" y="212725"/>
                </a:lnTo>
                <a:arcTo wR="212725" hR="212725" stAng="10800000" swAng="5400000"/>
                <a:close/>
              </a:path>
            </a:pathLst>
          </a:custGeom>
          <a:solidFill>
            <a:srgbClr val="F6DCC0"/>
          </a:solidFill>
          <a:ln w="12700">
            <a:solidFill>
              <a:srgbClr val="0E2A47"/>
            </a:solidFill>
            <a:prstDash val="solid"/>
          </a:ln>
        </p:spPr>
        <p:txBody>
          <a:bodyPr wrap="square" lIns="0" tIns="6350" rIns="0" bIns="0" rtlCol="0" anchor="t">
            <a:normAutofit/>
          </a:bodyPr>
          <a:lstStyle/>
          <a:p>
            <a:pPr marL="0" indent="0" algn="ctr">
              <a:lnSpc>
                <a:spcPts val="3250"/>
              </a:lnSpc>
              <a:buNone/>
            </a:pPr>
            <a:r>
              <a:rPr lang="en-US" sz="1300" dirty="0">
                <a:solidFill>
                  <a:srgbClr val="0E2A47"/>
                </a:solidFill>
                <a:latin typeface="Courier New" pitchFamily="49" charset="0"/>
                <a:ea typeface="Courier New" pitchFamily="49" charset="-122"/>
                <a:cs typeface="Courier New" pitchFamily="49" charset="-120"/>
              </a:rPr>
              <a:t>git push</a:t>
            </a:r>
            <a:endParaRPr lang="en-US" sz="1300" dirty="0"/>
          </a:p>
        </p:txBody>
      </p:sp>
      <p:sp>
        <p:nvSpPr>
          <p:cNvPr id="12" name="Text 3"/>
          <p:cNvSpPr/>
          <p:nvPr/>
        </p:nvSpPr>
        <p:spPr>
          <a:xfrm>
            <a:off x="1200150" y="2553891"/>
            <a:ext cx="2527300" cy="520700"/>
          </a:xfrm>
          <a:prstGeom prst="roundRect">
            <a:avLst>
              <a:gd name="adj" fmla="val 13415"/>
            </a:avLst>
          </a:prstGeom>
          <a:solidFill>
            <a:srgbClr val="DCEAFB"/>
          </a:solidFill>
          <a:ln w="12700">
            <a:solidFill>
              <a:srgbClr val="0E2A47"/>
            </a:solidFill>
            <a:prstDash val="solid"/>
          </a:ln>
        </p:spPr>
        <p:txBody>
          <a:bodyPr wrap="square" lIns="52821" tIns="21511" rIns="52821" bIns="21511" rtlCol="0" anchor="ctr">
            <a:normAutofit/>
          </a:bodyPr>
          <a:lstStyle/>
          <a:p>
            <a:pPr marL="0" indent="0" algn="ctr">
              <a:lnSpc>
                <a:spcPts val="1620"/>
              </a:lnSpc>
              <a:buNone/>
            </a:pPr>
            <a:r>
              <a:rPr lang="en-US" sz="1200" dirty="0">
                <a:solidFill>
                  <a:srgbClr val="0E2A47"/>
                </a:solidFill>
                <a:latin typeface="Arial" pitchFamily="34" charset="0"/>
                <a:ea typeface="Arial" pitchFamily="34" charset="-122"/>
                <a:cs typeface="Arial" pitchFamily="34" charset="-120"/>
              </a:rPr>
              <a:t>GitHub Actions lit le workflow YAML</a:t>
            </a:r>
            <a:endParaRPr lang="en-US" sz="1200" dirty="0"/>
          </a:p>
        </p:txBody>
      </p:sp>
      <p:sp>
        <p:nvSpPr>
          <p:cNvPr id="13" name="Text 4"/>
          <p:cNvSpPr/>
          <p:nvPr/>
        </p:nvSpPr>
        <p:spPr>
          <a:xfrm>
            <a:off x="1200150" y="3252391"/>
            <a:ext cx="2527300" cy="520700"/>
          </a:xfrm>
          <a:prstGeom prst="roundRect">
            <a:avLst>
              <a:gd name="adj" fmla="val 13415"/>
            </a:avLst>
          </a:prstGeom>
          <a:solidFill>
            <a:srgbClr val="A9C7F2"/>
          </a:solidFill>
          <a:ln w="12700">
            <a:solidFill>
              <a:srgbClr val="0E2A47"/>
            </a:solidFill>
            <a:prstDash val="solid"/>
          </a:ln>
        </p:spPr>
        <p:txBody>
          <a:bodyPr wrap="square" lIns="52821" tIns="21511" rIns="52821" bIns="21511" rtlCol="0" anchor="ctr">
            <a:normAutofit/>
          </a:bodyPr>
          <a:lstStyle/>
          <a:p>
            <a:pPr marL="0" indent="0" algn="ctr">
              <a:lnSpc>
                <a:spcPts val="1620"/>
              </a:lnSpc>
              <a:buNone/>
            </a:pPr>
            <a:r>
              <a:rPr lang="en-US" sz="1200" dirty="0">
                <a:solidFill>
                  <a:srgbClr val="0E2A47"/>
                </a:solidFill>
                <a:latin typeface="Arial" pitchFamily="34" charset="0"/>
                <a:ea typeface="Arial" pitchFamily="34" charset="-122"/>
                <a:cs typeface="Arial" pitchFamily="34" charset="-120"/>
              </a:rPr>
              <a:t>checkout · Node.js 22 · .env temporaire</a:t>
            </a:r>
            <a:endParaRPr lang="en-US" sz="1200" dirty="0"/>
          </a:p>
        </p:txBody>
      </p:sp>
      <p:sp>
        <p:nvSpPr>
          <p:cNvPr id="14" name="Text 5"/>
          <p:cNvSpPr/>
          <p:nvPr/>
        </p:nvSpPr>
        <p:spPr>
          <a:xfrm>
            <a:off x="1200150" y="3950891"/>
            <a:ext cx="2527300" cy="520700"/>
          </a:xfrm>
          <a:prstGeom prst="roundRect">
            <a:avLst>
              <a:gd name="adj" fmla="val 13415"/>
            </a:avLst>
          </a:prstGeom>
          <a:solidFill>
            <a:srgbClr val="7FA7EA"/>
          </a:solidFill>
          <a:ln w="12700">
            <a:solidFill>
              <a:srgbClr val="0E2A47"/>
            </a:solidFill>
            <a:prstDash val="solid"/>
          </a:ln>
        </p:spPr>
        <p:txBody>
          <a:bodyPr wrap="square" lIns="52821" tIns="21511" rIns="52821" bIns="21511" rtlCol="0" anchor="ctr">
            <a:normAutofit/>
          </a:bodyPr>
          <a:lstStyle/>
          <a:p>
            <a:pPr marL="0" indent="0" algn="ctr">
              <a:lnSpc>
                <a:spcPts val="1620"/>
              </a:lnSpc>
              <a:buNone/>
            </a:pPr>
            <a:r>
              <a:rPr lang="en-US" sz="1200" dirty="0">
                <a:solidFill>
                  <a:srgbClr val="0E2A47"/>
                </a:solidFill>
                <a:latin typeface="Arial" pitchFamily="34" charset="0"/>
                <a:ea typeface="Arial" pitchFamily="34" charset="-122"/>
                <a:cs typeface="Arial" pitchFamily="34" charset="-120"/>
              </a:rPr>
              <a:t>Docker Compose · npm ci + Chromium · seed</a:t>
            </a:r>
            <a:endParaRPr lang="en-US" sz="1200" dirty="0"/>
          </a:p>
        </p:txBody>
      </p:sp>
      <p:sp>
        <p:nvSpPr>
          <p:cNvPr id="15" name="Text 6"/>
          <p:cNvSpPr/>
          <p:nvPr/>
        </p:nvSpPr>
        <p:spPr>
          <a:xfrm>
            <a:off x="1200150" y="4649391"/>
            <a:ext cx="2527300" cy="520700"/>
          </a:xfrm>
          <a:prstGeom prst="roundRect">
            <a:avLst>
              <a:gd name="adj" fmla="val 13415"/>
            </a:avLst>
          </a:prstGeom>
          <a:solidFill>
            <a:srgbClr val="2F63C8"/>
          </a:solidFill>
          <a:ln w="12700">
            <a:solidFill>
              <a:srgbClr val="0E2A47"/>
            </a:solidFill>
            <a:prstDash val="solid"/>
          </a:ln>
        </p:spPr>
        <p:txBody>
          <a:bodyPr wrap="square" lIns="87492" tIns="36692" rIns="87492" bIns="36692" rtlCol="0" anchor="ctr">
            <a:normAutofit/>
          </a:bodyPr>
          <a:lstStyle/>
          <a:p>
            <a:pPr marL="0" indent="0" algn="ctr">
              <a:lnSpc>
                <a:spcPts val="1820"/>
              </a:lnSpc>
              <a:buNone/>
            </a:pPr>
            <a:r>
              <a:rPr lang="en-US" sz="1300" b="1" dirty="0">
                <a:solidFill>
                  <a:srgbClr val="F4F7FB"/>
                </a:solidFill>
                <a:latin typeface="Arial" pitchFamily="34" charset="0"/>
                <a:ea typeface="Arial" pitchFamily="34" charset="-122"/>
                <a:cs typeface="Arial" pitchFamily="34" charset="-120"/>
              </a:rPr>
              <a:t>npm test (Playwright)</a:t>
            </a:r>
            <a:endParaRPr lang="en-US" sz="1300" dirty="0"/>
          </a:p>
        </p:txBody>
      </p:sp>
      <p:pic>
        <p:nvPicPr>
          <p:cNvPr id="16" name="Image 7" descr="diamond"/>
          <p:cNvPicPr>
            <a:picLocks noChangeAspect="1"/>
          </p:cNvPicPr>
          <p:nvPr/>
        </p:nvPicPr>
        <p:blipFill>
          <a:blip r:embed="rId8"/>
          <a:srcRect/>
          <a:stretch/>
        </p:blipFill>
        <p:spPr>
          <a:xfrm>
            <a:off x="4368800" y="4516041"/>
            <a:ext cx="1270000" cy="889000"/>
          </a:xfrm>
          <a:prstGeom prst="rect">
            <a:avLst/>
          </a:prstGeom>
        </p:spPr>
      </p:pic>
      <p:sp>
        <p:nvSpPr>
          <p:cNvPr id="17" name="Text 7"/>
          <p:cNvSpPr/>
          <p:nvPr/>
        </p:nvSpPr>
        <p:spPr>
          <a:xfrm>
            <a:off x="4470400" y="4846241"/>
            <a:ext cx="1066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E2A47"/>
                </a:solidFill>
                <a:latin typeface="Arial" pitchFamily="34" charset="0"/>
                <a:ea typeface="Arial" pitchFamily="34" charset="-122"/>
                <a:cs typeface="Arial" pitchFamily="34" charset="-120"/>
              </a:rPr>
              <a:t>Verdict</a:t>
            </a:r>
            <a:endParaRPr lang="en-US" sz="1300" dirty="0"/>
          </a:p>
        </p:txBody>
      </p:sp>
      <p:sp>
        <p:nvSpPr>
          <p:cNvPr id="18" name="Text 8"/>
          <p:cNvSpPr/>
          <p:nvPr/>
        </p:nvSpPr>
        <p:spPr>
          <a:xfrm>
            <a:off x="4248150" y="3442891"/>
            <a:ext cx="1511300" cy="685800"/>
          </a:xfrm>
          <a:prstGeom prst="roundRect">
            <a:avLst>
              <a:gd name="adj" fmla="val 10185"/>
            </a:avLst>
          </a:prstGeom>
          <a:solidFill>
            <a:srgbClr val="FBE6E4"/>
          </a:solidFill>
          <a:ln w="12700">
            <a:solidFill>
              <a:srgbClr val="B83A30"/>
            </a:solidFill>
            <a:prstDash val="solid"/>
          </a:ln>
        </p:spPr>
        <p:txBody>
          <a:bodyPr wrap="square" lIns="62092" tIns="1221" rIns="62092" bIns="1221" rtlCol="0" anchor="ctr">
            <a:normAutofit/>
          </a:bodyPr>
          <a:lstStyle/>
          <a:p>
            <a:pPr marL="0" indent="0" algn="ctr">
              <a:lnSpc>
                <a:spcPts val="1620"/>
              </a:lnSpc>
              <a:buNone/>
            </a:pPr>
            <a:r>
              <a:rPr lang="en-US" sz="1200" b="1" dirty="0">
                <a:solidFill>
                  <a:srgbClr val="B83A30"/>
                </a:solidFill>
                <a:latin typeface="Arial" pitchFamily="34" charset="0"/>
                <a:ea typeface="Arial" pitchFamily="34" charset="-122"/>
                <a:cs typeface="Arial" pitchFamily="34" charset="-120"/>
              </a:rPr>
              <a:t>Échec</a:t>
            </a:r>
            <a:r>
              <a:rPr lang="en-US" sz="1200" dirty="0">
                <a:solidFill>
                  <a:srgbClr val="B83A30"/>
                </a:solidFill>
                <a:latin typeface="Arial" pitchFamily="34" charset="0"/>
                <a:ea typeface="Arial" pitchFamily="34" charset="-122"/>
                <a:cs typeface="Arial" pitchFamily="34" charset="-120"/>
              </a:rPr>
              <a:t> : logs des conteneurs affichés</a:t>
            </a:r>
            <a:endParaRPr lang="en-US" sz="1200" dirty="0"/>
          </a:p>
        </p:txBody>
      </p:sp>
      <p:sp>
        <p:nvSpPr>
          <p:cNvPr id="19" name="Text 9"/>
          <p:cNvSpPr/>
          <p:nvPr/>
        </p:nvSpPr>
        <p:spPr>
          <a:xfrm>
            <a:off x="6280150" y="4649391"/>
            <a:ext cx="1892300" cy="832941"/>
          </a:xfrm>
          <a:custGeom>
            <a:avLst/>
            <a:gdLst/>
            <a:ahLst/>
            <a:cxnLst/>
            <a:rect l="l" t="t" r="r" b="b"/>
            <a:pathLst>
              <a:path w="1892300" h="832941">
                <a:moveTo>
                  <a:pt x="416471" y="0"/>
                </a:moveTo>
                <a:lnTo>
                  <a:pt x="1475829" y="0"/>
                </a:lnTo>
                <a:arcTo wR="416471" hR="416471" stAng="16200000" swAng="5400000"/>
                <a:lnTo>
                  <a:pt x="1892300" y="416471"/>
                </a:lnTo>
                <a:arcTo wR="416471" hR="416471" stAng="0" swAng="5400000"/>
                <a:lnTo>
                  <a:pt x="416471" y="832941"/>
                </a:lnTo>
                <a:arcTo wR="416471" hR="416471" stAng="5400000" swAng="5400000"/>
                <a:lnTo>
                  <a:pt x="0" y="416471"/>
                </a:lnTo>
                <a:arcTo wR="416471" hR="416471" stAng="10800000" swAng="5400000"/>
                <a:close/>
              </a:path>
            </a:pathLst>
          </a:custGeom>
          <a:solidFill>
            <a:srgbClr val="DCEAFB"/>
          </a:solidFill>
          <a:ln w="12700">
            <a:solidFill>
              <a:srgbClr val="2563B8"/>
            </a:solidFill>
            <a:prstDash val="solid"/>
          </a:ln>
        </p:spPr>
        <p:txBody>
          <a:bodyPr wrap="square" lIns="133350" tIns="107950" rIns="133350" bIns="82550" rtlCol="0" anchor="t">
            <a:normAutofit/>
          </a:bodyPr>
          <a:lstStyle/>
          <a:p>
            <a:pPr marL="0" indent="0" algn="ctr">
              <a:lnSpc>
                <a:spcPts val="1620"/>
              </a:lnSpc>
              <a:buNone/>
            </a:pPr>
            <a:r>
              <a:rPr lang="en-US" sz="1200" b="1" dirty="0">
                <a:solidFill>
                  <a:srgbClr val="0E2A47"/>
                </a:solidFill>
                <a:latin typeface="Arial" pitchFamily="34" charset="0"/>
                <a:ea typeface="Arial" pitchFamily="34" charset="-122"/>
                <a:cs typeface="Arial" pitchFamily="34" charset="-120"/>
              </a:rPr>
              <a:t>Succès</a:t>
            </a:r>
            <a:r>
              <a:rPr lang="en-US" sz="1200" dirty="0">
                <a:solidFill>
                  <a:srgbClr val="0E2A47"/>
                </a:solidFill>
                <a:latin typeface="Arial" pitchFamily="34" charset="0"/>
                <a:ea typeface="Arial" pitchFamily="34" charset="-122"/>
                <a:cs typeface="Arial" pitchFamily="34" charset="-120"/>
              </a:rPr>
              <a:t> : rapports publiés, aucun déploiement</a:t>
            </a:r>
            <a:endParaRPr lang="en-US" sz="1200" dirty="0"/>
          </a:p>
        </p:txBody>
      </p:sp>
      <p:sp>
        <p:nvSpPr>
          <p:cNvPr id="20" name="Text 10"/>
          <p:cNvSpPr/>
          <p:nvPr/>
        </p:nvSpPr>
        <p:spPr>
          <a:xfrm>
            <a:off x="8559800" y="1849041"/>
            <a:ext cx="290398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563B8"/>
                </a:solidFill>
                <a:latin typeface="Arial" pitchFamily="34" charset="0"/>
                <a:ea typeface="Arial" pitchFamily="34" charset="-122"/>
                <a:cs typeface="Arial" pitchFamily="34" charset="-120"/>
              </a:rPr>
              <a:t>Artifacts publiés</a:t>
            </a:r>
            <a:endParaRPr lang="en-US" sz="1500" dirty="0"/>
          </a:p>
        </p:txBody>
      </p:sp>
      <p:sp>
        <p:nvSpPr>
          <p:cNvPr id="21" name="Text 11"/>
          <p:cNvSpPr/>
          <p:nvPr/>
        </p:nvSpPr>
        <p:spPr>
          <a:xfrm>
            <a:off x="8566150" y="2236391"/>
            <a:ext cx="2806700" cy="469900"/>
          </a:xfrm>
          <a:prstGeom prst="roundRect">
            <a:avLst>
              <a:gd name="adj" fmla="val 14865"/>
            </a:avLst>
          </a:prstGeom>
          <a:solidFill>
            <a:srgbClr val="DCEAFB"/>
          </a:solidFill>
          <a:ln w="12700">
            <a:solidFill>
              <a:srgbClr val="0E2A47"/>
            </a:solidFill>
            <a:prstDash val="solid"/>
          </a:ln>
        </p:spPr>
        <p:txBody>
          <a:bodyPr wrap="square" lIns="0" tIns="0" rIns="0" bIns="0" rtlCol="0" anchor="ctr">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Rapport HTML Playwright</a:t>
            </a:r>
            <a:endParaRPr lang="en-US" sz="1200" dirty="0"/>
          </a:p>
        </p:txBody>
      </p:sp>
      <p:sp>
        <p:nvSpPr>
          <p:cNvPr id="22" name="Text 12"/>
          <p:cNvSpPr/>
          <p:nvPr/>
        </p:nvSpPr>
        <p:spPr>
          <a:xfrm>
            <a:off x="8566150" y="2845991"/>
            <a:ext cx="2806700" cy="469900"/>
          </a:xfrm>
          <a:prstGeom prst="roundRect">
            <a:avLst>
              <a:gd name="adj" fmla="val 14865"/>
            </a:avLst>
          </a:prstGeom>
          <a:solidFill>
            <a:srgbClr val="FBE6E4"/>
          </a:solidFill>
          <a:ln w="12700">
            <a:solidFill>
              <a:srgbClr val="B83A30"/>
            </a:solidFill>
            <a:prstDash val="solid"/>
          </a:ln>
        </p:spPr>
        <p:txBody>
          <a:bodyPr wrap="square" lIns="0" tIns="0" rIns="0" bIns="0" rtlCol="0" anchor="ctr">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Traces (en cas d’échec)</a:t>
            </a:r>
            <a:endParaRPr lang="en-US" sz="1200" dirty="0"/>
          </a:p>
        </p:txBody>
      </p:sp>
      <p:sp>
        <p:nvSpPr>
          <p:cNvPr id="23" name="Text 13"/>
          <p:cNvSpPr/>
          <p:nvPr/>
        </p:nvSpPr>
        <p:spPr>
          <a:xfrm>
            <a:off x="8566150" y="3455591"/>
            <a:ext cx="2806700" cy="469900"/>
          </a:xfrm>
          <a:prstGeom prst="roundRect">
            <a:avLst>
              <a:gd name="adj" fmla="val 14865"/>
            </a:avLst>
          </a:prstGeom>
          <a:solidFill>
            <a:srgbClr val="FBE6E4"/>
          </a:solidFill>
          <a:ln w="12700">
            <a:solidFill>
              <a:srgbClr val="B83A30"/>
            </a:solidFill>
            <a:prstDash val="solid"/>
          </a:ln>
        </p:spPr>
        <p:txBody>
          <a:bodyPr wrap="square" lIns="0" tIns="0" rIns="0" bIns="0" rtlCol="0" anchor="ctr">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Captures (en cas d’échec)</a:t>
            </a:r>
            <a:endParaRPr lang="en-US" sz="1200" dirty="0"/>
          </a:p>
        </p:txBody>
      </p:sp>
      <p:sp>
        <p:nvSpPr>
          <p:cNvPr id="24" name="Shape 14"/>
          <p:cNvSpPr/>
          <p:nvPr/>
        </p:nvSpPr>
        <p:spPr>
          <a:xfrm>
            <a:off x="8569325" y="4335066"/>
            <a:ext cx="2800350" cy="1187450"/>
          </a:xfrm>
          <a:prstGeom prst="roundRect">
            <a:avLst>
              <a:gd name="adj" fmla="val 5615"/>
            </a:avLst>
          </a:prstGeom>
          <a:solidFill>
            <a:srgbClr val="FDFEFF"/>
          </a:solidFill>
          <a:ln w="19050">
            <a:solidFill>
              <a:srgbClr val="B83A30"/>
            </a:solidFill>
            <a:prstDash val="dash"/>
          </a:ln>
        </p:spPr>
        <p:txBody>
          <a:bodyPr/>
          <a:lstStyle/>
          <a:p>
            <a:endParaRPr lang="fr-FR"/>
          </a:p>
        </p:txBody>
      </p:sp>
      <p:sp>
        <p:nvSpPr>
          <p:cNvPr id="25" name="Text 15"/>
          <p:cNvSpPr/>
          <p:nvPr/>
        </p:nvSpPr>
        <p:spPr>
          <a:xfrm>
            <a:off x="8731250" y="4471591"/>
            <a:ext cx="2550795" cy="244872"/>
          </a:xfrm>
          <a:prstGeom prst="rect">
            <a:avLst/>
          </a:prstGeom>
          <a:noFill/>
          <a:ln/>
        </p:spPr>
        <p:txBody>
          <a:bodyPr wrap="square" lIns="0" tIns="0" rIns="0" bIns="0" rtlCol="0" anchor="t">
            <a:normAutofit/>
          </a:bodyPr>
          <a:lstStyle/>
          <a:p>
            <a:pPr marL="0" indent="0" algn="l">
              <a:lnSpc>
                <a:spcPts val="1774"/>
              </a:lnSpc>
              <a:buNone/>
            </a:pPr>
            <a:r>
              <a:rPr lang="en-US" sz="1268" b="1" dirty="0">
                <a:solidFill>
                  <a:srgbClr val="B83A30"/>
                </a:solidFill>
                <a:latin typeface="Arial" pitchFamily="34" charset="0"/>
                <a:ea typeface="Arial" pitchFamily="34" charset="-122"/>
                <a:cs typeface="Arial" pitchFamily="34" charset="-120"/>
              </a:rPr>
              <a:t>Workflow préparé, non activé</a:t>
            </a:r>
            <a:endParaRPr lang="en-US" sz="1268" dirty="0"/>
          </a:p>
        </p:txBody>
      </p:sp>
      <p:sp>
        <p:nvSpPr>
          <p:cNvPr id="26" name="Text 16"/>
          <p:cNvSpPr/>
          <p:nvPr/>
        </p:nvSpPr>
        <p:spPr>
          <a:xfrm>
            <a:off x="8731250" y="4741863"/>
            <a:ext cx="2550795" cy="228005"/>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0E2A47"/>
                </a:solidFill>
                <a:latin typeface="Courier New" pitchFamily="49" charset="0"/>
                <a:ea typeface="Courier New" pitchFamily="49" charset="-122"/>
                <a:cs typeface="Courier New" pitchFamily="49" charset="-120"/>
              </a:rPr>
              <a:t>groupe-owui-qa/ci/e2e.yml</a:t>
            </a:r>
            <a:endParaRPr lang="en-US" sz="1159" dirty="0"/>
          </a:p>
        </p:txBody>
      </p:sp>
      <p:sp>
        <p:nvSpPr>
          <p:cNvPr id="27" name="Text 17"/>
          <p:cNvSpPr/>
          <p:nvPr/>
        </p:nvSpPr>
        <p:spPr>
          <a:xfrm>
            <a:off x="8731250" y="4995267"/>
            <a:ext cx="2550795" cy="416123"/>
          </a:xfrm>
          <a:prstGeom prst="rect">
            <a:avLst/>
          </a:prstGeom>
          <a:noFill/>
          <a:ln/>
        </p:spPr>
        <p:txBody>
          <a:bodyPr wrap="square" lIns="0" tIns="0" rIns="0" bIns="0" rtlCol="0" anchor="t">
            <a:normAutofit/>
          </a:bodyPr>
          <a:lstStyle/>
          <a:p>
            <a:pPr marL="0" indent="0" algn="l">
              <a:lnSpc>
                <a:spcPts val="1559"/>
              </a:lnSpc>
              <a:buNone/>
            </a:pPr>
            <a:r>
              <a:rPr lang="en-US" sz="1155" dirty="0">
                <a:solidFill>
                  <a:srgbClr val="3E5068"/>
                </a:solidFill>
                <a:latin typeface="Arial" pitchFamily="34" charset="0"/>
                <a:ea typeface="Arial" pitchFamily="34" charset="-122"/>
                <a:cs typeface="Arial" pitchFamily="34" charset="-120"/>
              </a:rPr>
              <a:t>aucun run confirmé · à copier dans .github/workflows/</a:t>
            </a:r>
            <a:endParaRPr lang="en-US" sz="1155" dirty="0"/>
          </a:p>
        </p:txBody>
      </p:sp>
      <p:sp>
        <p:nvSpPr>
          <p:cNvPr id="28"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BILAN</a:t>
            </a:r>
            <a:endParaRPr lang="en-US" sz="1200" dirty="0"/>
          </a:p>
        </p:txBody>
      </p:sp>
      <p:sp>
        <p:nvSpPr>
          <p:cNvPr id="3" name="Text 1"/>
          <p:cNvSpPr>
            <a:spLocks noGrp="1"/>
          </p:cNvSpPr>
          <p:nvPr>
            <p:ph type="title"/>
          </p:nvPr>
        </p:nvSpPr>
        <p:spPr>
          <a:xfrm>
            <a:off x="812800" y="1229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Ce qui est fait, face aux attendus du sujet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2541"/>
          <a:ext cx="10553700" cy="3325810"/>
        </p:xfrm>
        <a:graphic>
          <a:graphicData uri="http://schemas.openxmlformats.org/drawingml/2006/table">
            <a:tbl>
              <a:tblPr/>
              <a:tblGrid>
                <a:gridCol w="3377184">
                  <a:extLst>
                    <a:ext uri="{9D8B030D-6E8A-4147-A177-3AD203B41FA5}">
                      <a16:colId xmlns:a16="http://schemas.microsoft.com/office/drawing/2014/main" val="20000"/>
                    </a:ext>
                  </a:extLst>
                </a:gridCol>
                <a:gridCol w="1583055">
                  <a:extLst>
                    <a:ext uri="{9D8B030D-6E8A-4147-A177-3AD203B41FA5}">
                      <a16:colId xmlns:a16="http://schemas.microsoft.com/office/drawing/2014/main" val="20001"/>
                    </a:ext>
                  </a:extLst>
                </a:gridCol>
                <a:gridCol w="5593461">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0E2A47"/>
                          </a:solidFill>
                          <a:latin typeface="Arial" pitchFamily="34" charset="0"/>
                          <a:ea typeface="Arial" pitchFamily="34" charset="-122"/>
                          <a:cs typeface="Arial" pitchFamily="34" charset="-120"/>
                        </a:rPr>
                        <a:t>Attendu</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B5BEC7"/>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EC7"/>
                      </a:solidFill>
                      <a:prstDash val="solid"/>
                      <a:round/>
                      <a:headEnd type="none" w="med" len="med"/>
                      <a:tailEnd type="none" w="med" len="med"/>
                    </a:lnB>
                    <a:solidFill>
                      <a:srgbClr val="E3EEFA"/>
                    </a:solidFill>
                  </a:tcPr>
                </a:tc>
                <a:tc>
                  <a:txBody>
                    <a:bodyPr/>
                    <a:lstStyle/>
                    <a:p>
                      <a:pPr marL="0" indent="0">
                        <a:lnSpc>
                          <a:spcPts val="1680"/>
                        </a:lnSpc>
                        <a:buNone/>
                      </a:pPr>
                      <a:r>
                        <a:rPr lang="en-US" sz="1200" b="1" dirty="0">
                          <a:solidFill>
                            <a:srgbClr val="0E2A47"/>
                          </a:solidFill>
                          <a:latin typeface="Arial" pitchFamily="34" charset="0"/>
                          <a:ea typeface="Arial" pitchFamily="34" charset="-122"/>
                          <a:cs typeface="Arial" pitchFamily="34" charset="-120"/>
                        </a:rPr>
                        <a:t>Statut</a:t>
                      </a:r>
                      <a:endParaRPr lang="en-US" sz="1200" dirty="0">
                        <a:latin typeface="Arial" charset="0"/>
                        <a:ea typeface="Arial" charset="0"/>
                        <a:cs typeface="Arial" charset="0"/>
                      </a:endParaRPr>
                    </a:p>
                  </a:txBody>
                  <a:tcPr marL="53340" marR="53340" marT="53340" marB="53340">
                    <a:lnL w="12700" cap="flat" cmpd="sng" algn="ctr">
                      <a:solidFill>
                        <a:srgbClr val="B5BEC7"/>
                      </a:solidFill>
                      <a:prstDash val="solid"/>
                      <a:round/>
                      <a:headEnd type="none" w="med" len="med"/>
                      <a:tailEnd type="none" w="med" len="med"/>
                    </a:lnL>
                    <a:lnR w="12700" cap="flat" cmpd="sng" algn="ctr">
                      <a:solidFill>
                        <a:srgbClr val="B5BEC7"/>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EC7"/>
                      </a:solidFill>
                      <a:prstDash val="solid"/>
                      <a:round/>
                      <a:headEnd type="none" w="med" len="med"/>
                      <a:tailEnd type="none" w="med" len="med"/>
                    </a:lnB>
                    <a:solidFill>
                      <a:srgbClr val="E3EEFA"/>
                    </a:solidFill>
                  </a:tcPr>
                </a:tc>
                <a:tc>
                  <a:txBody>
                    <a:bodyPr/>
                    <a:lstStyle/>
                    <a:p>
                      <a:pPr marL="0" indent="0">
                        <a:lnSpc>
                          <a:spcPts val="1680"/>
                        </a:lnSpc>
                        <a:buNone/>
                      </a:pPr>
                      <a:r>
                        <a:rPr lang="en-US" sz="1200" b="1" dirty="0">
                          <a:solidFill>
                            <a:srgbClr val="0E2A47"/>
                          </a:solidFill>
                          <a:latin typeface="Arial" pitchFamily="34" charset="0"/>
                          <a:ea typeface="Arial" pitchFamily="34" charset="-122"/>
                          <a:cs typeface="Arial" pitchFamily="34" charset="-120"/>
                        </a:rPr>
                        <a:t>Preuve</a:t>
                      </a:r>
                      <a:endParaRPr lang="en-US" sz="1200" dirty="0">
                        <a:latin typeface="Arial" charset="0"/>
                        <a:ea typeface="Arial" charset="0"/>
                        <a:cs typeface="Arial" charset="0"/>
                      </a:endParaRPr>
                    </a:p>
                  </a:txBody>
                  <a:tcPr marL="53340" marR="53340" marT="53340" marB="53340">
                    <a:lnL w="12700" cap="flat" cmpd="sng" algn="ctr">
                      <a:solidFill>
                        <a:srgbClr val="B5BEC7"/>
                      </a:solidFill>
                      <a:prstDash val="solid"/>
                      <a:round/>
                      <a:headEnd type="none" w="med" len="med"/>
                      <a:tailEnd type="none" w="med" len="med"/>
                    </a:lnL>
                    <a:lnR w="12700" cap="flat" cmpd="sng" algn="ctr">
                      <a:solidFill>
                        <a:srgbClr val="B5BEC7"/>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EC7"/>
                      </a:solidFill>
                      <a:prstDash val="solid"/>
                      <a:round/>
                      <a:headEnd type="none" w="med" len="med"/>
                      <a:tailEnd type="none" w="med" len="med"/>
                    </a:lnB>
                    <a:solidFill>
                      <a:srgbClr val="E3EEFA"/>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MVP · 10 tests E2E</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5BEC7"/>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2563B8"/>
                          </a:solidFill>
                          <a:latin typeface="Arial" pitchFamily="34" charset="0"/>
                          <a:ea typeface="Arial" pitchFamily="34" charset="-122"/>
                          <a:cs typeface="Arial" pitchFamily="34" charset="-120"/>
                        </a:rPr>
                        <a:t>Fait</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5BEC7"/>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16 scénarios fonctionnels (+ setup : 17/17)</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5BEC7"/>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MVP · fixtures isolées</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2563B8"/>
                          </a:solidFill>
                          <a:latin typeface="Arial" pitchFamily="34" charset="0"/>
                          <a:ea typeface="Arial" pitchFamily="34" charset="-122"/>
                          <a:cs typeface="Arial" pitchFamily="34" charset="-120"/>
                        </a:rPr>
                        <a:t>Fait</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5 fixtures, noms uniques, nettoyage en finally</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MVP · traces et captures</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2563B8"/>
                          </a:solidFill>
                          <a:latin typeface="Arial" pitchFamily="34" charset="0"/>
                          <a:ea typeface="Arial" pitchFamily="34" charset="-122"/>
                          <a:cs typeface="Arial" pitchFamily="34" charset="-120"/>
                        </a:rPr>
                        <a:t>Fait</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conservées automatiquement en cas d’échec</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MVP · exécution CI</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B83A30"/>
                          </a:solidFill>
                          <a:latin typeface="Arial" pitchFamily="34" charset="0"/>
                          <a:ea typeface="Arial" pitchFamily="34" charset="-122"/>
                          <a:cs typeface="Arial" pitchFamily="34" charset="-120"/>
                        </a:rPr>
                        <a:t>Partiel</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ci/e2e.yml prêt, aucun run GitHub confirmé</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Réussite · nominal et erreur</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2563B8"/>
                          </a:solidFill>
                          <a:latin typeface="Arial" pitchFamily="34" charset="0"/>
                          <a:ea typeface="Arial" pitchFamily="34" charset="-122"/>
                          <a:cs typeface="Arial" pitchFamily="34" charset="-120"/>
                        </a:rPr>
                        <a:t>Fait</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mauvais mot de passe, panne LLM, 401</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Réussite · ordre indifférent</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Conçu</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données propres à chaque test, ordre non permuté</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Réussite · flakiness 10 runs</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2563B8"/>
                          </a:solidFill>
                          <a:latin typeface="Arial" pitchFamily="34" charset="0"/>
                          <a:ea typeface="Arial" pitchFamily="34" charset="-122"/>
                          <a:cs typeface="Arial" pitchFamily="34" charset="-120"/>
                        </a:rPr>
                        <a:t>Fait</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160/160, baseline 0/10 comme prévu</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extLst>
                  <a:ext uri="{0D108BD9-81ED-4DB2-BD59-A6C34878D82A}">
                    <a16:rowId xmlns:a16="http://schemas.microsoft.com/office/drawing/2014/main" val="10007"/>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Budget inférieur à 5 €</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2563B8"/>
                          </a:solidFill>
                          <a:latin typeface="Arial" pitchFamily="34" charset="0"/>
                          <a:ea typeface="Arial" pitchFamily="34" charset="-122"/>
                          <a:cs typeface="Arial" pitchFamily="34" charset="-120"/>
                        </a:rPr>
                        <a:t>Fait</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0 € de LLM grâce au mock local</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extLst>
                  <a:ext uri="{0D108BD9-81ED-4DB2-BD59-A6C34878D82A}">
                    <a16:rowId xmlns:a16="http://schemas.microsoft.com/office/drawing/2014/main" val="10008"/>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Extensions</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5B6B80"/>
                          </a:solidFill>
                          <a:latin typeface="Arial" pitchFamily="34" charset="0"/>
                          <a:ea typeface="Arial" pitchFamily="34" charset="-122"/>
                          <a:cs typeface="Arial" pitchFamily="34" charset="-120"/>
                        </a:rPr>
                        <a:t>Non fait</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accessibilité, charge, matrice de versions</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LIMITES ET SUITE</a:t>
            </a:r>
            <a:endParaRPr lang="en-US" sz="1200" dirty="0"/>
          </a:p>
        </p:txBody>
      </p:sp>
      <p:sp>
        <p:nvSpPr>
          <p:cNvPr id="3" name="Text 1"/>
          <p:cNvSpPr>
            <a:spLocks noGrp="1"/>
          </p:cNvSpPr>
          <p:nvPr>
            <p:ph type="title"/>
          </p:nvPr>
        </p:nvSpPr>
        <p:spPr>
          <a:xfrm>
            <a:off x="812800" y="12801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Ce que la suite ne prouve pas encore</a:t>
            </a:r>
            <a:endParaRPr lang="en-US" sz="3200" dirty="0"/>
          </a:p>
        </p:txBody>
      </p:sp>
      <p:sp>
        <p:nvSpPr>
          <p:cNvPr id="4" name="Shape 2"/>
          <p:cNvSpPr/>
          <p:nvPr/>
        </p:nvSpPr>
        <p:spPr>
          <a:xfrm>
            <a:off x="815975" y="2004616"/>
            <a:ext cx="5124450" cy="3834209"/>
          </a:xfrm>
          <a:prstGeom prst="roundRect">
            <a:avLst>
              <a:gd name="adj" fmla="val 2567"/>
            </a:avLst>
          </a:prstGeom>
          <a:solidFill>
            <a:srgbClr val="FBFCFE"/>
          </a:solidFill>
          <a:ln w="6350">
            <a:solidFill>
              <a:srgbClr val="C9D8EA"/>
            </a:solidFill>
            <a:prstDash val="solid"/>
          </a:ln>
        </p:spPr>
        <p:txBody>
          <a:bodyPr/>
          <a:lstStyle/>
          <a:p>
            <a:endParaRPr lang="fr-FR"/>
          </a:p>
        </p:txBody>
      </p:sp>
      <p:pic>
        <p:nvPicPr>
          <p:cNvPr id="5" name="Image 0" descr="Warning"/>
          <p:cNvPicPr>
            <a:picLocks noChangeAspect="1"/>
          </p:cNvPicPr>
          <p:nvPr/>
        </p:nvPicPr>
        <p:blipFill>
          <a:blip r:embed="rId3"/>
          <a:srcRect/>
          <a:stretch/>
        </p:blipFill>
        <p:spPr>
          <a:xfrm>
            <a:off x="1022350" y="2221111"/>
            <a:ext cx="254000" cy="254000"/>
          </a:xfrm>
          <a:prstGeom prst="rect">
            <a:avLst/>
          </a:prstGeom>
        </p:spPr>
      </p:pic>
      <p:sp>
        <p:nvSpPr>
          <p:cNvPr id="6" name="Text 3"/>
          <p:cNvSpPr/>
          <p:nvPr/>
        </p:nvSpPr>
        <p:spPr>
          <a:xfrm>
            <a:off x="1352550" y="2210991"/>
            <a:ext cx="216455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E2A47"/>
                </a:solidFill>
                <a:latin typeface="Arial" pitchFamily="34" charset="0"/>
                <a:ea typeface="Arial" pitchFamily="34" charset="-122"/>
                <a:cs typeface="Arial" pitchFamily="34" charset="-120"/>
              </a:rPr>
              <a:t>Limites connues</a:t>
            </a:r>
            <a:endParaRPr lang="en-US" sz="1800" dirty="0"/>
          </a:p>
        </p:txBody>
      </p:sp>
      <p:sp>
        <p:nvSpPr>
          <p:cNvPr id="7" name="Text 4"/>
          <p:cNvSpPr/>
          <p:nvPr/>
        </p:nvSpPr>
        <p:spPr>
          <a:xfrm>
            <a:off x="1119632" y="2612231"/>
            <a:ext cx="4748149" cy="1892300"/>
          </a:xfrm>
          <a:prstGeom prst="rect">
            <a:avLst/>
          </a:prstGeom>
          <a:noFill/>
          <a:ln/>
        </p:spPr>
        <p:txBody>
          <a:bodyPr wrap="square" lIns="0" tIns="0" rIns="0" bIns="0" rtlCol="0" anchor="t">
            <a:normAutofit/>
          </a:bodyPr>
          <a:lstStyle/>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Le mock teste l’intégration, pas la qualité d’un vrai modèle</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Deux instances locales : simulation, pas sécurité de production</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Sélecteurs liés à Open WebUI v0.11.4</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Un seul worker : pas de parallélisme</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Des conversations de test restent dans les volumes</a:t>
            </a:r>
            <a:endParaRPr lang="en-US" sz="1400" dirty="0"/>
          </a:p>
        </p:txBody>
      </p:sp>
      <p:sp>
        <p:nvSpPr>
          <p:cNvPr id="8" name="Shape 5"/>
          <p:cNvSpPr/>
          <p:nvPr/>
        </p:nvSpPr>
        <p:spPr>
          <a:xfrm>
            <a:off x="6251575" y="2004616"/>
            <a:ext cx="5124450" cy="3834209"/>
          </a:xfrm>
          <a:prstGeom prst="roundRect">
            <a:avLst>
              <a:gd name="adj" fmla="val 2567"/>
            </a:avLst>
          </a:prstGeom>
          <a:solidFill>
            <a:srgbClr val="FBFCFE"/>
          </a:solidFill>
          <a:ln w="6350">
            <a:solidFill>
              <a:srgbClr val="C9D8EA"/>
            </a:solidFill>
            <a:prstDash val="solid"/>
          </a:ln>
        </p:spPr>
        <p:txBody>
          <a:bodyPr/>
          <a:lstStyle/>
          <a:p>
            <a:endParaRPr lang="fr-FR"/>
          </a:p>
        </p:txBody>
      </p:sp>
      <p:pic>
        <p:nvPicPr>
          <p:cNvPr id="9" name="Image 1" descr="Lightbulb"/>
          <p:cNvPicPr>
            <a:picLocks noChangeAspect="1"/>
          </p:cNvPicPr>
          <p:nvPr/>
        </p:nvPicPr>
        <p:blipFill>
          <a:blip r:embed="rId4"/>
          <a:srcRect/>
          <a:stretch/>
        </p:blipFill>
        <p:spPr>
          <a:xfrm>
            <a:off x="6457950" y="2221111"/>
            <a:ext cx="254000" cy="254000"/>
          </a:xfrm>
          <a:prstGeom prst="rect">
            <a:avLst/>
          </a:prstGeom>
        </p:spPr>
      </p:pic>
      <p:sp>
        <p:nvSpPr>
          <p:cNvPr id="10" name="Text 6"/>
          <p:cNvSpPr/>
          <p:nvPr/>
        </p:nvSpPr>
        <p:spPr>
          <a:xfrm>
            <a:off x="6788150" y="2210991"/>
            <a:ext cx="242435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563B8"/>
                </a:solidFill>
                <a:latin typeface="Arial" pitchFamily="34" charset="0"/>
                <a:ea typeface="Arial" pitchFamily="34" charset="-122"/>
                <a:cs typeface="Arial" pitchFamily="34" charset="-120"/>
              </a:rPr>
              <a:t>Prochaines étapes</a:t>
            </a:r>
            <a:endParaRPr lang="en-US" sz="1800" dirty="0"/>
          </a:p>
        </p:txBody>
      </p:sp>
      <p:sp>
        <p:nvSpPr>
          <p:cNvPr id="11" name="Text 7"/>
          <p:cNvSpPr/>
          <p:nvPr/>
        </p:nvSpPr>
        <p:spPr>
          <a:xfrm>
            <a:off x="6555232" y="2612231"/>
            <a:ext cx="4748149" cy="1358900"/>
          </a:xfrm>
          <a:prstGeom prst="rect">
            <a:avLst/>
          </a:prstGeom>
          <a:noFill/>
          <a:ln/>
        </p:spPr>
        <p:txBody>
          <a:bodyPr wrap="square" lIns="0" tIns="0" rIns="0" bIns="0" rtlCol="0" anchor="t">
            <a:normAutofit/>
          </a:bodyPr>
          <a:lstStyle/>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Activer le workflow sur le fork et joindre un run vert</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Mesurer l’indépendance : ordre inversé, --repeat-each</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Accessibilité avec axe-core</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Charge légère et matrice de versions Open WebUI</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Un run optionnel avec un vrai modèle</a:t>
            </a:r>
            <a:endParaRPr lang="en-US" sz="1400" dirty="0"/>
          </a:p>
        </p:txBody>
      </p:sp>
      <p:sp>
        <p:nvSpPr>
          <p:cNvPr id="12"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ORGANISATION</a:t>
            </a:r>
            <a:endParaRPr lang="en-US" sz="1200" dirty="0"/>
          </a:p>
        </p:txBody>
      </p:sp>
      <p:sp>
        <p:nvSpPr>
          <p:cNvPr id="3" name="Text 1"/>
          <p:cNvSpPr>
            <a:spLocks noGrp="1"/>
          </p:cNvSpPr>
          <p:nvPr>
            <p:ph type="title"/>
          </p:nvPr>
        </p:nvSpPr>
        <p:spPr>
          <a:xfrm>
            <a:off x="812800" y="1254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Contributions</a:t>
            </a:r>
            <a:endParaRPr lang="en-US" sz="3200" dirty="0"/>
          </a:p>
        </p:txBody>
      </p:sp>
      <p:sp>
        <p:nvSpPr>
          <p:cNvPr id="4" name="Shape 2"/>
          <p:cNvSpPr/>
          <p:nvPr/>
        </p:nvSpPr>
        <p:spPr>
          <a:xfrm>
            <a:off x="815975" y="1953816"/>
            <a:ext cx="5175250" cy="1478657"/>
          </a:xfrm>
          <a:prstGeom prst="roundRect">
            <a:avLst>
              <a:gd name="adj" fmla="val 6656"/>
            </a:avLst>
          </a:prstGeom>
          <a:solidFill>
            <a:srgbClr val="FBFCFE"/>
          </a:solidFill>
          <a:ln w="6350">
            <a:solidFill>
              <a:srgbClr val="C9D8EA"/>
            </a:solidFill>
            <a:prstDash val="solid"/>
          </a:ln>
        </p:spPr>
        <p:txBody>
          <a:bodyPr/>
          <a:lstStyle/>
          <a:p>
            <a:endParaRPr lang="fr-FR"/>
          </a:p>
        </p:txBody>
      </p:sp>
      <p:pic>
        <p:nvPicPr>
          <p:cNvPr id="5" name="Image 0" descr="Users"/>
          <p:cNvPicPr>
            <a:picLocks noChangeAspect="1"/>
          </p:cNvPicPr>
          <p:nvPr/>
        </p:nvPicPr>
        <p:blipFill>
          <a:blip r:embed="rId3"/>
          <a:srcRect/>
          <a:stretch/>
        </p:blipFill>
        <p:spPr>
          <a:xfrm>
            <a:off x="1022350" y="2162671"/>
            <a:ext cx="254000" cy="254000"/>
          </a:xfrm>
          <a:prstGeom prst="rect">
            <a:avLst/>
          </a:prstGeom>
        </p:spPr>
      </p:pic>
      <p:sp>
        <p:nvSpPr>
          <p:cNvPr id="6" name="Text 3"/>
          <p:cNvSpPr/>
          <p:nvPr/>
        </p:nvSpPr>
        <p:spPr>
          <a:xfrm>
            <a:off x="1352550" y="2160191"/>
            <a:ext cx="154602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E2A47"/>
                </a:solidFill>
                <a:latin typeface="Arial" pitchFamily="34" charset="0"/>
                <a:ea typeface="Arial" pitchFamily="34" charset="-122"/>
                <a:cs typeface="Arial" pitchFamily="34" charset="-120"/>
              </a:rPr>
              <a:t>@Will-emma</a:t>
            </a:r>
            <a:endParaRPr lang="en-US" sz="1700" dirty="0"/>
          </a:p>
        </p:txBody>
      </p:sp>
      <p:sp>
        <p:nvSpPr>
          <p:cNvPr id="7" name="Text 4"/>
          <p:cNvSpPr/>
          <p:nvPr/>
        </p:nvSpPr>
        <p:spPr>
          <a:xfrm>
            <a:off x="1022350" y="2508151"/>
            <a:ext cx="4905375"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E5068"/>
                </a:solidFill>
                <a:latin typeface="Arial" pitchFamily="34" charset="0"/>
                <a:ea typeface="Arial" pitchFamily="34" charset="-122"/>
                <a:cs typeface="Arial" pitchFamily="34" charset="-120"/>
              </a:rPr>
              <a:t>Environnement Docker (deux tenants + mock LLM), structure du projet, premiers tests Playwright, fixtures et configuration de l’environnement de test.</a:t>
            </a:r>
            <a:endParaRPr lang="en-US" sz="1300" dirty="0"/>
          </a:p>
        </p:txBody>
      </p:sp>
      <p:sp>
        <p:nvSpPr>
          <p:cNvPr id="8" name="Shape 5"/>
          <p:cNvSpPr/>
          <p:nvPr/>
        </p:nvSpPr>
        <p:spPr>
          <a:xfrm>
            <a:off x="6200775" y="1953816"/>
            <a:ext cx="5175250" cy="1478657"/>
          </a:xfrm>
          <a:prstGeom prst="roundRect">
            <a:avLst>
              <a:gd name="adj" fmla="val 6656"/>
            </a:avLst>
          </a:prstGeom>
          <a:solidFill>
            <a:srgbClr val="FBFCFE"/>
          </a:solidFill>
          <a:ln w="6350">
            <a:solidFill>
              <a:srgbClr val="C9D8EA"/>
            </a:solidFill>
            <a:prstDash val="solid"/>
          </a:ln>
        </p:spPr>
        <p:txBody>
          <a:bodyPr/>
          <a:lstStyle/>
          <a:p>
            <a:endParaRPr lang="fr-FR"/>
          </a:p>
        </p:txBody>
      </p:sp>
      <p:pic>
        <p:nvPicPr>
          <p:cNvPr id="9" name="Image 1" descr="Users"/>
          <p:cNvPicPr>
            <a:picLocks noChangeAspect="1"/>
          </p:cNvPicPr>
          <p:nvPr/>
        </p:nvPicPr>
        <p:blipFill>
          <a:blip r:embed="rId4"/>
          <a:srcRect/>
          <a:stretch/>
        </p:blipFill>
        <p:spPr>
          <a:xfrm>
            <a:off x="6407150" y="2162671"/>
            <a:ext cx="254000" cy="254000"/>
          </a:xfrm>
          <a:prstGeom prst="rect">
            <a:avLst/>
          </a:prstGeom>
        </p:spPr>
      </p:pic>
      <p:sp>
        <p:nvSpPr>
          <p:cNvPr id="10" name="Text 6"/>
          <p:cNvSpPr/>
          <p:nvPr/>
        </p:nvSpPr>
        <p:spPr>
          <a:xfrm>
            <a:off x="6737350" y="2160191"/>
            <a:ext cx="169295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E2A47"/>
                </a:solidFill>
                <a:latin typeface="Arial" pitchFamily="34" charset="0"/>
                <a:ea typeface="Arial" pitchFamily="34" charset="-122"/>
                <a:cs typeface="Arial" pitchFamily="34" charset="-120"/>
              </a:rPr>
              <a:t>@StarkMac22</a:t>
            </a:r>
            <a:endParaRPr lang="en-US" sz="1700" dirty="0"/>
          </a:p>
        </p:txBody>
      </p:sp>
      <p:sp>
        <p:nvSpPr>
          <p:cNvPr id="11" name="Text 7"/>
          <p:cNvSpPr/>
          <p:nvPr/>
        </p:nvSpPr>
        <p:spPr>
          <a:xfrm>
            <a:off x="6407150" y="2508151"/>
            <a:ext cx="4905375"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E5068"/>
                </a:solidFill>
                <a:latin typeface="Arial" pitchFamily="34" charset="0"/>
                <a:ea typeface="Arial" pitchFamily="34" charset="-122"/>
                <a:cs typeface="Arial" pitchFamily="34" charset="-120"/>
              </a:rPr>
              <a:t>Parcours RAG et outils dans le navigateur, fixtures et mock LLM améliorés, validation 17/17, campagne 160/160, documentation et rapports.</a:t>
            </a:r>
            <a:endParaRPr lang="en-US" sz="1300" dirty="0"/>
          </a:p>
        </p:txBody>
      </p:sp>
      <p:sp>
        <p:nvSpPr>
          <p:cNvPr id="12" name="Shape 8"/>
          <p:cNvSpPr/>
          <p:nvPr/>
        </p:nvSpPr>
        <p:spPr>
          <a:xfrm>
            <a:off x="812800" y="3664248"/>
            <a:ext cx="10566400" cy="635000"/>
          </a:xfrm>
          <a:prstGeom prst="roundRect">
            <a:avLst>
              <a:gd name="adj" fmla="val 16000"/>
            </a:avLst>
          </a:prstGeom>
          <a:solidFill>
            <a:srgbClr val="E3EEFA"/>
          </a:solidFill>
          <a:ln/>
        </p:spPr>
        <p:txBody>
          <a:bodyPr/>
          <a:lstStyle/>
          <a:p>
            <a:endParaRPr lang="fr-FR"/>
          </a:p>
        </p:txBody>
      </p:sp>
      <p:pic>
        <p:nvPicPr>
          <p:cNvPr id="13" name="Image 2" descr="Code"/>
          <p:cNvPicPr>
            <a:picLocks noChangeAspect="1"/>
          </p:cNvPicPr>
          <p:nvPr/>
        </p:nvPicPr>
        <p:blipFill>
          <a:blip r:embed="rId5"/>
          <a:srcRect/>
          <a:stretch/>
        </p:blipFill>
        <p:spPr>
          <a:xfrm>
            <a:off x="1016000" y="3842048"/>
            <a:ext cx="279400" cy="279400"/>
          </a:xfrm>
          <a:prstGeom prst="rect">
            <a:avLst/>
          </a:prstGeom>
        </p:spPr>
      </p:pic>
      <p:sp>
        <p:nvSpPr>
          <p:cNvPr id="14" name="Text 9"/>
          <p:cNvSpPr/>
          <p:nvPr/>
        </p:nvSpPr>
        <p:spPr>
          <a:xfrm>
            <a:off x="1422400" y="3857327"/>
            <a:ext cx="613517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E2A47"/>
                </a:solidFill>
                <a:latin typeface="Arial" pitchFamily="34" charset="0"/>
                <a:ea typeface="Arial" pitchFamily="34" charset="-122"/>
                <a:cs typeface="Arial" pitchFamily="34" charset="-120"/>
              </a:rPr>
              <a:t>Assistance IA :</a:t>
            </a:r>
            <a:r>
              <a:rPr lang="en-US" sz="1400" dirty="0">
                <a:solidFill>
                  <a:srgbClr val="0E2A47"/>
                </a:solidFill>
                <a:latin typeface="Arial" pitchFamily="34" charset="0"/>
                <a:ea typeface="Arial" pitchFamily="34" charset="-122"/>
                <a:cs typeface="Arial" pitchFamily="34" charset="-120"/>
              </a:rPr>
              <a:t> Claude et Codex, utilisés pour corriger des bugs</a:t>
            </a:r>
            <a:endParaRPr lang="en-US" sz="1400" dirty="0"/>
          </a:p>
        </p:txBody>
      </p:sp>
      <p:sp>
        <p:nvSpPr>
          <p:cNvPr id="15" name="Text 10"/>
          <p:cNvSpPr/>
          <p:nvPr/>
        </p:nvSpPr>
        <p:spPr>
          <a:xfrm>
            <a:off x="812800" y="4527848"/>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Méthode : branches Git dédiées, commits distincts, vérification locale, intégration dans le fork puis Pull Request</a:t>
            </a:r>
            <a:endParaRPr lang="en-US" sz="12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DÉMONSTRATION</a:t>
            </a:r>
            <a:endParaRPr lang="en-US" sz="1200" dirty="0"/>
          </a:p>
        </p:txBody>
      </p:sp>
      <p:sp>
        <p:nvSpPr>
          <p:cNvPr id="3" name="Text 1"/>
          <p:cNvSpPr>
            <a:spLocks noGrp="1"/>
          </p:cNvSpPr>
          <p:nvPr>
            <p:ph type="title"/>
          </p:nvPr>
        </p:nvSpPr>
        <p:spPr>
          <a:xfrm>
            <a:off x="812800" y="1229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Une démo rejouable en quatre étapes</a:t>
            </a:r>
            <a:endParaRPr lang="en-US" sz="3200" dirty="0"/>
          </a:p>
        </p:txBody>
      </p:sp>
      <p:sp>
        <p:nvSpPr>
          <p:cNvPr id="4" name="Shape 2"/>
          <p:cNvSpPr/>
          <p:nvPr/>
        </p:nvSpPr>
        <p:spPr>
          <a:xfrm>
            <a:off x="812800" y="1899841"/>
            <a:ext cx="10566400" cy="434280"/>
          </a:xfrm>
          <a:prstGeom prst="roundRect">
            <a:avLst>
              <a:gd name="adj" fmla="val 17546"/>
            </a:avLst>
          </a:prstGeom>
          <a:solidFill>
            <a:srgbClr val="E3EEFA"/>
          </a:solidFill>
          <a:ln/>
        </p:spPr>
        <p:txBody>
          <a:bodyPr/>
          <a:lstStyle/>
          <a:p>
            <a:endParaRPr lang="fr-FR"/>
          </a:p>
        </p:txBody>
      </p:sp>
      <p:pic>
        <p:nvPicPr>
          <p:cNvPr id="5" name="Image 0" descr="Settings"/>
          <p:cNvPicPr>
            <a:picLocks noChangeAspect="1"/>
          </p:cNvPicPr>
          <p:nvPr/>
        </p:nvPicPr>
        <p:blipFill>
          <a:blip r:embed="rId3"/>
          <a:srcRect/>
          <a:stretch/>
        </p:blipFill>
        <p:spPr>
          <a:xfrm>
            <a:off x="965200" y="2002631"/>
            <a:ext cx="228600" cy="228600"/>
          </a:xfrm>
          <a:prstGeom prst="rect">
            <a:avLst/>
          </a:prstGeom>
        </p:spPr>
      </p:pic>
      <p:sp>
        <p:nvSpPr>
          <p:cNvPr id="6" name="Text 3"/>
          <p:cNvSpPr/>
          <p:nvPr/>
        </p:nvSpPr>
        <p:spPr>
          <a:xfrm>
            <a:off x="1295400" y="2001441"/>
            <a:ext cx="684895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E2A47"/>
                </a:solidFill>
                <a:latin typeface="Arial" pitchFamily="34" charset="0"/>
                <a:ea typeface="Arial" pitchFamily="34" charset="-122"/>
                <a:cs typeface="Arial" pitchFamily="34" charset="-120"/>
              </a:rPr>
              <a:t>Préparé en amont :</a:t>
            </a:r>
            <a:r>
              <a:rPr lang="en-US" sz="1300" dirty="0">
                <a:solidFill>
                  <a:srgbClr val="0E2A47"/>
                </a:solidFill>
                <a:latin typeface="Arial" pitchFamily="34" charset="0"/>
                <a:ea typeface="Arial" pitchFamily="34" charset="-122"/>
                <a:cs typeface="Arial" pitchFamily="34" charset="-120"/>
              </a:rPr>
              <a:t> Node.js, dépendances (npm ci), Chromium et fichier .env</a:t>
            </a:r>
            <a:endParaRPr lang="en-US" sz="1300" dirty="0"/>
          </a:p>
        </p:txBody>
      </p:sp>
      <p:sp>
        <p:nvSpPr>
          <p:cNvPr id="7" name="Shape 4"/>
          <p:cNvSpPr/>
          <p:nvPr/>
        </p:nvSpPr>
        <p:spPr>
          <a:xfrm>
            <a:off x="819150" y="2543671"/>
            <a:ext cx="2216150" cy="1544241"/>
          </a:xfrm>
          <a:prstGeom prst="roundRect">
            <a:avLst>
              <a:gd name="adj" fmla="val 6168"/>
            </a:avLst>
          </a:prstGeom>
          <a:solidFill>
            <a:srgbClr val="FBFCFE"/>
          </a:solidFill>
          <a:ln w="12700">
            <a:solidFill>
              <a:srgbClr val="0E2A47"/>
            </a:solidFill>
            <a:prstDash val="solid"/>
          </a:ln>
        </p:spPr>
        <p:txBody>
          <a:bodyPr/>
          <a:lstStyle/>
          <a:p>
            <a:endParaRPr lang="fr-FR"/>
          </a:p>
        </p:txBody>
      </p:sp>
      <p:sp>
        <p:nvSpPr>
          <p:cNvPr id="8" name="Text 5"/>
          <p:cNvSpPr/>
          <p:nvPr/>
        </p:nvSpPr>
        <p:spPr>
          <a:xfrm>
            <a:off x="1003300" y="2727821"/>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E2A47"/>
          </a:solidFill>
          <a:ln/>
        </p:spPr>
        <p:txBody>
          <a:bodyPr wrap="square" lIns="0" tIns="0" rIns="0" bIns="0" rtlCol="0" anchor="t">
            <a:normAutofit/>
          </a:bodyPr>
          <a:lstStyle/>
          <a:p>
            <a:pPr marL="0" indent="0" algn="ctr">
              <a:lnSpc>
                <a:spcPts val="2600"/>
              </a:lnSpc>
              <a:buNone/>
            </a:pPr>
            <a:r>
              <a:rPr lang="en-US" sz="1300" b="1" dirty="0">
                <a:solidFill>
                  <a:srgbClr val="F4F7FB"/>
                </a:solidFill>
                <a:latin typeface="Arial" pitchFamily="34" charset="0"/>
                <a:ea typeface="Arial" pitchFamily="34" charset="-122"/>
                <a:cs typeface="Arial" pitchFamily="34" charset="-120"/>
              </a:rPr>
              <a:t>1</a:t>
            </a:r>
            <a:endParaRPr lang="en-US" sz="1300" dirty="0"/>
          </a:p>
        </p:txBody>
      </p:sp>
      <p:pic>
        <p:nvPicPr>
          <p:cNvPr id="9" name="Image 1" descr="Cloud"/>
          <p:cNvPicPr>
            <a:picLocks noChangeAspect="1"/>
          </p:cNvPicPr>
          <p:nvPr/>
        </p:nvPicPr>
        <p:blipFill>
          <a:blip r:embed="rId4"/>
          <a:srcRect/>
          <a:stretch/>
        </p:blipFill>
        <p:spPr>
          <a:xfrm>
            <a:off x="1435100" y="2727821"/>
            <a:ext cx="330200" cy="330200"/>
          </a:xfrm>
          <a:prstGeom prst="rect">
            <a:avLst/>
          </a:prstGeom>
        </p:spPr>
      </p:pic>
      <p:sp>
        <p:nvSpPr>
          <p:cNvPr id="10" name="Text 6"/>
          <p:cNvSpPr/>
          <p:nvPr/>
        </p:nvSpPr>
        <p:spPr>
          <a:xfrm>
            <a:off x="1003300" y="3121521"/>
            <a:ext cx="19032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2A47"/>
                </a:solidFill>
                <a:latin typeface="Arial" pitchFamily="34" charset="0"/>
                <a:ea typeface="Arial" pitchFamily="34" charset="-122"/>
                <a:cs typeface="Arial" pitchFamily="34" charset="-120"/>
              </a:rPr>
              <a:t>Docker</a:t>
            </a:r>
            <a:endParaRPr lang="en-US" sz="1500" dirty="0"/>
          </a:p>
        </p:txBody>
      </p:sp>
      <p:sp>
        <p:nvSpPr>
          <p:cNvPr id="11" name="Text 7"/>
          <p:cNvSpPr/>
          <p:nvPr/>
        </p:nvSpPr>
        <p:spPr>
          <a:xfrm>
            <a:off x="1003300" y="341362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B8"/>
                </a:solidFill>
                <a:latin typeface="Courier New" pitchFamily="49" charset="0"/>
                <a:ea typeface="Courier New" pitchFamily="49" charset="-122"/>
                <a:cs typeface="Courier New" pitchFamily="49" charset="-120"/>
              </a:rPr>
              <a:t>npm run env:up</a:t>
            </a:r>
            <a:endParaRPr lang="en-US" sz="1200" dirty="0"/>
          </a:p>
        </p:txBody>
      </p:sp>
      <p:sp>
        <p:nvSpPr>
          <p:cNvPr id="12" name="Text 8"/>
          <p:cNvSpPr/>
          <p:nvPr/>
        </p:nvSpPr>
        <p:spPr>
          <a:xfrm>
            <a:off x="1003300" y="369044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2 tenants + mock</a:t>
            </a:r>
            <a:endParaRPr lang="en-US" sz="1200" dirty="0"/>
          </a:p>
        </p:txBody>
      </p:sp>
      <p:pic>
        <p:nvPicPr>
          <p:cNvPr id="13" name="Image 2" descr="arrow-right"/>
          <p:cNvPicPr>
            <a:picLocks noChangeAspect="1"/>
          </p:cNvPicPr>
          <p:nvPr/>
        </p:nvPicPr>
        <p:blipFill>
          <a:blip r:embed="rId5"/>
          <a:srcRect/>
          <a:stretch/>
        </p:blipFill>
        <p:spPr>
          <a:xfrm>
            <a:off x="3143250" y="3214191"/>
            <a:ext cx="355600" cy="203200"/>
          </a:xfrm>
          <a:prstGeom prst="rect">
            <a:avLst/>
          </a:prstGeom>
        </p:spPr>
      </p:pic>
      <p:sp>
        <p:nvSpPr>
          <p:cNvPr id="14" name="Shape 9"/>
          <p:cNvSpPr/>
          <p:nvPr/>
        </p:nvSpPr>
        <p:spPr>
          <a:xfrm>
            <a:off x="3606800" y="2543671"/>
            <a:ext cx="2216150" cy="1544241"/>
          </a:xfrm>
          <a:prstGeom prst="roundRect">
            <a:avLst>
              <a:gd name="adj" fmla="val 6168"/>
            </a:avLst>
          </a:prstGeom>
          <a:solidFill>
            <a:srgbClr val="FBFCFE"/>
          </a:solidFill>
          <a:ln w="12700">
            <a:solidFill>
              <a:srgbClr val="0E2A47"/>
            </a:solidFill>
            <a:prstDash val="solid"/>
          </a:ln>
        </p:spPr>
        <p:txBody>
          <a:bodyPr/>
          <a:lstStyle/>
          <a:p>
            <a:endParaRPr lang="fr-FR"/>
          </a:p>
        </p:txBody>
      </p:sp>
      <p:sp>
        <p:nvSpPr>
          <p:cNvPr id="15" name="Text 10"/>
          <p:cNvSpPr/>
          <p:nvPr/>
        </p:nvSpPr>
        <p:spPr>
          <a:xfrm>
            <a:off x="3790950" y="2727821"/>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E2A47"/>
          </a:solidFill>
          <a:ln/>
        </p:spPr>
        <p:txBody>
          <a:bodyPr wrap="square" lIns="0" tIns="0" rIns="0" bIns="0" rtlCol="0" anchor="t">
            <a:normAutofit/>
          </a:bodyPr>
          <a:lstStyle/>
          <a:p>
            <a:pPr marL="0" indent="0" algn="ctr">
              <a:lnSpc>
                <a:spcPts val="2600"/>
              </a:lnSpc>
              <a:buNone/>
            </a:pPr>
            <a:r>
              <a:rPr lang="en-US" sz="1300" b="1" dirty="0">
                <a:solidFill>
                  <a:srgbClr val="F4F7FB"/>
                </a:solidFill>
                <a:latin typeface="Arial" pitchFamily="34" charset="0"/>
                <a:ea typeface="Arial" pitchFamily="34" charset="-122"/>
                <a:cs typeface="Arial" pitchFamily="34" charset="-120"/>
              </a:rPr>
              <a:t>2</a:t>
            </a:r>
            <a:endParaRPr lang="en-US" sz="1300" dirty="0"/>
          </a:p>
        </p:txBody>
      </p:sp>
      <p:pic>
        <p:nvPicPr>
          <p:cNvPr id="16" name="Image 3" descr="Users"/>
          <p:cNvPicPr>
            <a:picLocks noChangeAspect="1"/>
          </p:cNvPicPr>
          <p:nvPr/>
        </p:nvPicPr>
        <p:blipFill>
          <a:blip r:embed="rId6"/>
          <a:srcRect/>
          <a:stretch/>
        </p:blipFill>
        <p:spPr>
          <a:xfrm>
            <a:off x="4222750" y="2727821"/>
            <a:ext cx="330200" cy="330200"/>
          </a:xfrm>
          <a:prstGeom prst="rect">
            <a:avLst/>
          </a:prstGeom>
        </p:spPr>
      </p:pic>
      <p:sp>
        <p:nvSpPr>
          <p:cNvPr id="17" name="Text 11"/>
          <p:cNvSpPr/>
          <p:nvPr/>
        </p:nvSpPr>
        <p:spPr>
          <a:xfrm>
            <a:off x="3790950" y="3121521"/>
            <a:ext cx="19032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2A47"/>
                </a:solidFill>
                <a:latin typeface="Arial" pitchFamily="34" charset="0"/>
                <a:ea typeface="Arial" pitchFamily="34" charset="-122"/>
                <a:cs typeface="Arial" pitchFamily="34" charset="-120"/>
              </a:rPr>
              <a:t>Comptes</a:t>
            </a:r>
            <a:endParaRPr lang="en-US" sz="1500" dirty="0"/>
          </a:p>
        </p:txBody>
      </p:sp>
      <p:sp>
        <p:nvSpPr>
          <p:cNvPr id="18" name="Text 12"/>
          <p:cNvSpPr/>
          <p:nvPr/>
        </p:nvSpPr>
        <p:spPr>
          <a:xfrm>
            <a:off x="3790950" y="341362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B8"/>
                </a:solidFill>
                <a:latin typeface="Courier New" pitchFamily="49" charset="0"/>
                <a:ea typeface="Courier New" pitchFamily="49" charset="-122"/>
                <a:cs typeface="Courier New" pitchFamily="49" charset="-120"/>
              </a:rPr>
              <a:t>npm run seed</a:t>
            </a:r>
            <a:endParaRPr lang="en-US" sz="1200" dirty="0"/>
          </a:p>
        </p:txBody>
      </p:sp>
      <p:sp>
        <p:nvSpPr>
          <p:cNvPr id="19" name="Text 13"/>
          <p:cNvSpPr/>
          <p:nvPr/>
        </p:nvSpPr>
        <p:spPr>
          <a:xfrm>
            <a:off x="3790950" y="369044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admin sur A et B</a:t>
            </a:r>
            <a:endParaRPr lang="en-US" sz="1200" dirty="0"/>
          </a:p>
        </p:txBody>
      </p:sp>
      <p:pic>
        <p:nvPicPr>
          <p:cNvPr id="20" name="Image 4" descr="arrow-right"/>
          <p:cNvPicPr>
            <a:picLocks noChangeAspect="1"/>
          </p:cNvPicPr>
          <p:nvPr/>
        </p:nvPicPr>
        <p:blipFill>
          <a:blip r:embed="rId5"/>
          <a:srcRect/>
          <a:stretch/>
        </p:blipFill>
        <p:spPr>
          <a:xfrm>
            <a:off x="5930900" y="3214191"/>
            <a:ext cx="355600" cy="203200"/>
          </a:xfrm>
          <a:prstGeom prst="rect">
            <a:avLst/>
          </a:prstGeom>
        </p:spPr>
      </p:pic>
      <p:sp>
        <p:nvSpPr>
          <p:cNvPr id="21" name="Shape 14"/>
          <p:cNvSpPr/>
          <p:nvPr/>
        </p:nvSpPr>
        <p:spPr>
          <a:xfrm>
            <a:off x="6394450" y="2543671"/>
            <a:ext cx="2216150" cy="1544241"/>
          </a:xfrm>
          <a:prstGeom prst="roundRect">
            <a:avLst>
              <a:gd name="adj" fmla="val 6168"/>
            </a:avLst>
          </a:prstGeom>
          <a:solidFill>
            <a:srgbClr val="FBFCFE"/>
          </a:solidFill>
          <a:ln w="12700">
            <a:solidFill>
              <a:srgbClr val="0E2A47"/>
            </a:solidFill>
            <a:prstDash val="solid"/>
          </a:ln>
        </p:spPr>
        <p:txBody>
          <a:bodyPr/>
          <a:lstStyle/>
          <a:p>
            <a:endParaRPr lang="fr-FR"/>
          </a:p>
        </p:txBody>
      </p:sp>
      <p:sp>
        <p:nvSpPr>
          <p:cNvPr id="22" name="Text 15"/>
          <p:cNvSpPr/>
          <p:nvPr/>
        </p:nvSpPr>
        <p:spPr>
          <a:xfrm>
            <a:off x="6578600" y="2727821"/>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E2A47"/>
          </a:solidFill>
          <a:ln/>
        </p:spPr>
        <p:txBody>
          <a:bodyPr wrap="square" lIns="0" tIns="0" rIns="0" bIns="0" rtlCol="0" anchor="t">
            <a:normAutofit/>
          </a:bodyPr>
          <a:lstStyle/>
          <a:p>
            <a:pPr marL="0" indent="0" algn="ctr">
              <a:lnSpc>
                <a:spcPts val="2600"/>
              </a:lnSpc>
              <a:buNone/>
            </a:pPr>
            <a:r>
              <a:rPr lang="en-US" sz="1300" b="1" dirty="0">
                <a:solidFill>
                  <a:srgbClr val="F4F7FB"/>
                </a:solidFill>
                <a:latin typeface="Arial" pitchFamily="34" charset="0"/>
                <a:ea typeface="Arial" pitchFamily="34" charset="-122"/>
                <a:cs typeface="Arial" pitchFamily="34" charset="-120"/>
              </a:rPr>
              <a:t>3</a:t>
            </a:r>
            <a:endParaRPr lang="en-US" sz="1300" dirty="0"/>
          </a:p>
        </p:txBody>
      </p:sp>
      <p:pic>
        <p:nvPicPr>
          <p:cNvPr id="23" name="Image 5" descr="Play"/>
          <p:cNvPicPr>
            <a:picLocks noChangeAspect="1"/>
          </p:cNvPicPr>
          <p:nvPr/>
        </p:nvPicPr>
        <p:blipFill>
          <a:blip r:embed="rId7"/>
          <a:srcRect/>
          <a:stretch/>
        </p:blipFill>
        <p:spPr>
          <a:xfrm>
            <a:off x="7010400" y="2727821"/>
            <a:ext cx="330200" cy="330200"/>
          </a:xfrm>
          <a:prstGeom prst="rect">
            <a:avLst/>
          </a:prstGeom>
        </p:spPr>
      </p:pic>
      <p:sp>
        <p:nvSpPr>
          <p:cNvPr id="24" name="Text 16"/>
          <p:cNvSpPr/>
          <p:nvPr/>
        </p:nvSpPr>
        <p:spPr>
          <a:xfrm>
            <a:off x="6578600" y="3121521"/>
            <a:ext cx="19032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2A47"/>
                </a:solidFill>
                <a:latin typeface="Arial" pitchFamily="34" charset="0"/>
                <a:ea typeface="Arial" pitchFamily="34" charset="-122"/>
                <a:cs typeface="Arial" pitchFamily="34" charset="-120"/>
              </a:rPr>
              <a:t>Playwright</a:t>
            </a:r>
            <a:endParaRPr lang="en-US" sz="1500" dirty="0"/>
          </a:p>
        </p:txBody>
      </p:sp>
      <p:sp>
        <p:nvSpPr>
          <p:cNvPr id="25" name="Text 17"/>
          <p:cNvSpPr/>
          <p:nvPr/>
        </p:nvSpPr>
        <p:spPr>
          <a:xfrm>
            <a:off x="6578600" y="341362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B8"/>
                </a:solidFill>
                <a:latin typeface="Courier New" pitchFamily="49" charset="0"/>
                <a:ea typeface="Courier New" pitchFamily="49" charset="-122"/>
                <a:cs typeface="Courier New" pitchFamily="49" charset="-120"/>
              </a:rPr>
              <a:t>npm test</a:t>
            </a:r>
            <a:endParaRPr lang="en-US" sz="1200" dirty="0"/>
          </a:p>
        </p:txBody>
      </p:sp>
      <p:sp>
        <p:nvSpPr>
          <p:cNvPr id="26" name="Text 18"/>
          <p:cNvSpPr/>
          <p:nvPr/>
        </p:nvSpPr>
        <p:spPr>
          <a:xfrm>
            <a:off x="6578600" y="369044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les 17 tests</a:t>
            </a:r>
            <a:endParaRPr lang="en-US" sz="1200" dirty="0"/>
          </a:p>
        </p:txBody>
      </p:sp>
      <p:pic>
        <p:nvPicPr>
          <p:cNvPr id="27" name="Image 6" descr="arrow-right"/>
          <p:cNvPicPr>
            <a:picLocks noChangeAspect="1"/>
          </p:cNvPicPr>
          <p:nvPr/>
        </p:nvPicPr>
        <p:blipFill>
          <a:blip r:embed="rId5"/>
          <a:srcRect/>
          <a:stretch/>
        </p:blipFill>
        <p:spPr>
          <a:xfrm>
            <a:off x="8718550" y="3214191"/>
            <a:ext cx="355600" cy="203200"/>
          </a:xfrm>
          <a:prstGeom prst="rect">
            <a:avLst/>
          </a:prstGeom>
        </p:spPr>
      </p:pic>
      <p:sp>
        <p:nvSpPr>
          <p:cNvPr id="28" name="Shape 19"/>
          <p:cNvSpPr/>
          <p:nvPr/>
        </p:nvSpPr>
        <p:spPr>
          <a:xfrm>
            <a:off x="9175750" y="2537321"/>
            <a:ext cx="2203450" cy="1556941"/>
          </a:xfrm>
          <a:prstGeom prst="roundRect">
            <a:avLst>
              <a:gd name="adj" fmla="val 6526"/>
            </a:avLst>
          </a:prstGeom>
          <a:solidFill>
            <a:srgbClr val="0E2A47"/>
          </a:solidFill>
          <a:ln/>
        </p:spPr>
        <p:txBody>
          <a:bodyPr/>
          <a:lstStyle/>
          <a:p>
            <a:endParaRPr lang="fr-FR"/>
          </a:p>
        </p:txBody>
      </p:sp>
      <p:sp>
        <p:nvSpPr>
          <p:cNvPr id="29" name="Text 20"/>
          <p:cNvSpPr/>
          <p:nvPr/>
        </p:nvSpPr>
        <p:spPr>
          <a:xfrm>
            <a:off x="9353550" y="2715121"/>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8DB8E8"/>
          </a:solidFill>
          <a:ln/>
        </p:spPr>
        <p:txBody>
          <a:bodyPr wrap="square" lIns="0" tIns="0" rIns="0" bIns="0" rtlCol="0" anchor="t">
            <a:normAutofit/>
          </a:bodyPr>
          <a:lstStyle/>
          <a:p>
            <a:pPr marL="0" indent="0" algn="ctr">
              <a:lnSpc>
                <a:spcPts val="2600"/>
              </a:lnSpc>
              <a:buNone/>
            </a:pPr>
            <a:r>
              <a:rPr lang="en-US" sz="1300" b="1" dirty="0">
                <a:solidFill>
                  <a:srgbClr val="0E2A47"/>
                </a:solidFill>
                <a:latin typeface="Arial" pitchFamily="34" charset="0"/>
                <a:ea typeface="Arial" pitchFamily="34" charset="-122"/>
                <a:cs typeface="Arial" pitchFamily="34" charset="-120"/>
              </a:rPr>
              <a:t>4</a:t>
            </a:r>
            <a:endParaRPr lang="en-US" sz="1300" dirty="0"/>
          </a:p>
        </p:txBody>
      </p:sp>
      <p:pic>
        <p:nvPicPr>
          <p:cNvPr id="30" name="Image 7" descr="Chart"/>
          <p:cNvPicPr>
            <a:picLocks noChangeAspect="1"/>
          </p:cNvPicPr>
          <p:nvPr/>
        </p:nvPicPr>
        <p:blipFill>
          <a:blip r:embed="rId8"/>
          <a:srcRect/>
          <a:stretch/>
        </p:blipFill>
        <p:spPr>
          <a:xfrm>
            <a:off x="9785350" y="2715121"/>
            <a:ext cx="330200" cy="330200"/>
          </a:xfrm>
          <a:prstGeom prst="rect">
            <a:avLst/>
          </a:prstGeom>
        </p:spPr>
      </p:pic>
      <p:sp>
        <p:nvSpPr>
          <p:cNvPr id="31" name="Text 21"/>
          <p:cNvSpPr/>
          <p:nvPr/>
        </p:nvSpPr>
        <p:spPr>
          <a:xfrm>
            <a:off x="9353550" y="3108821"/>
            <a:ext cx="19032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7FB"/>
                </a:solidFill>
                <a:latin typeface="Arial" pitchFamily="34" charset="0"/>
                <a:ea typeface="Arial" pitchFamily="34" charset="-122"/>
                <a:cs typeface="Arial" pitchFamily="34" charset="-120"/>
              </a:rPr>
              <a:t>Rapport HTML</a:t>
            </a:r>
            <a:endParaRPr lang="en-US" sz="1500" dirty="0"/>
          </a:p>
        </p:txBody>
      </p:sp>
      <p:sp>
        <p:nvSpPr>
          <p:cNvPr id="32" name="Text 22"/>
          <p:cNvSpPr/>
          <p:nvPr/>
        </p:nvSpPr>
        <p:spPr>
          <a:xfrm>
            <a:off x="9353550" y="340092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8E8"/>
                </a:solidFill>
                <a:latin typeface="Courier New" pitchFamily="49" charset="0"/>
                <a:ea typeface="Courier New" pitchFamily="49" charset="-122"/>
                <a:cs typeface="Courier New" pitchFamily="49" charset="-120"/>
              </a:rPr>
              <a:t>npm run report</a:t>
            </a:r>
            <a:endParaRPr lang="en-US" sz="1200" dirty="0"/>
          </a:p>
        </p:txBody>
      </p:sp>
      <p:sp>
        <p:nvSpPr>
          <p:cNvPr id="33" name="Text 23"/>
          <p:cNvSpPr/>
          <p:nvPr/>
        </p:nvSpPr>
        <p:spPr>
          <a:xfrm>
            <a:off x="9353550" y="367774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4D6EA"/>
                </a:solidFill>
                <a:latin typeface="Arial" pitchFamily="34" charset="0"/>
                <a:ea typeface="Arial" pitchFamily="34" charset="-122"/>
                <a:cs typeface="Arial" pitchFamily="34" charset="-120"/>
              </a:rPr>
              <a:t>résultats et traces</a:t>
            </a:r>
            <a:endParaRPr lang="en-US" sz="1200" dirty="0"/>
          </a:p>
        </p:txBody>
      </p:sp>
      <p:sp>
        <p:nvSpPr>
          <p:cNvPr id="34" name="Shape 24"/>
          <p:cNvSpPr/>
          <p:nvPr/>
        </p:nvSpPr>
        <p:spPr>
          <a:xfrm>
            <a:off x="812800" y="4297462"/>
            <a:ext cx="5207000" cy="718741"/>
          </a:xfrm>
          <a:prstGeom prst="roundRect">
            <a:avLst>
              <a:gd name="adj" fmla="val 10602"/>
            </a:avLst>
          </a:prstGeom>
          <a:solidFill>
            <a:srgbClr val="FBFCFE"/>
          </a:solidFill>
          <a:ln/>
        </p:spPr>
        <p:txBody>
          <a:bodyPr/>
          <a:lstStyle/>
          <a:p>
            <a:endParaRPr lang="fr-FR"/>
          </a:p>
        </p:txBody>
      </p:sp>
      <p:sp>
        <p:nvSpPr>
          <p:cNvPr id="35" name="Shape 25"/>
          <p:cNvSpPr/>
          <p:nvPr/>
        </p:nvSpPr>
        <p:spPr>
          <a:xfrm>
            <a:off x="812800" y="4297462"/>
            <a:ext cx="5207000" cy="718741"/>
          </a:xfrm>
          <a:custGeom>
            <a:avLst/>
            <a:gdLst/>
            <a:ahLst/>
            <a:cxnLst/>
            <a:rect l="l" t="t" r="r" b="b"/>
            <a:pathLst>
              <a:path w="5207000" h="718741">
                <a:moveTo>
                  <a:pt x="76200" y="718741"/>
                </a:moveTo>
                <a:lnTo>
                  <a:pt x="76200" y="718741"/>
                </a:lnTo>
                <a:arcTo wR="76200" hR="76200" stAng="5400000" swAng="5400000"/>
                <a:lnTo>
                  <a:pt x="0" y="76200"/>
                </a:lnTo>
                <a:arcTo wR="76200" hR="76200" stAng="10800000" swAng="5400000"/>
                <a:lnTo>
                  <a:pt x="76200" y="0"/>
                </a:lnTo>
                <a:arcTo wR="38100" hR="76200" stAng="16200000" swAng="-5400000"/>
                <a:lnTo>
                  <a:pt x="38100" y="642541"/>
                </a:lnTo>
                <a:arcTo wR="38100" hR="76200" stAng="10800000" swAng="-5400000"/>
                <a:close/>
              </a:path>
            </a:pathLst>
          </a:custGeom>
          <a:solidFill>
            <a:srgbClr val="5B6B80"/>
          </a:solidFill>
          <a:ln/>
        </p:spPr>
        <p:txBody>
          <a:bodyPr/>
          <a:lstStyle/>
          <a:p>
            <a:endParaRPr lang="fr-FR"/>
          </a:p>
        </p:txBody>
      </p:sp>
      <p:sp>
        <p:nvSpPr>
          <p:cNvPr id="36" name="Text 26"/>
          <p:cNvSpPr/>
          <p:nvPr/>
        </p:nvSpPr>
        <p:spPr>
          <a:xfrm>
            <a:off x="1003300" y="4424462"/>
            <a:ext cx="501002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Après la démo : nettoyage</a:t>
            </a:r>
            <a:endParaRPr lang="en-US" sz="1400" dirty="0"/>
          </a:p>
        </p:txBody>
      </p:sp>
      <p:sp>
        <p:nvSpPr>
          <p:cNvPr id="37" name="Text 27"/>
          <p:cNvSpPr/>
          <p:nvPr/>
        </p:nvSpPr>
        <p:spPr>
          <a:xfrm>
            <a:off x="1003300" y="4675882"/>
            <a:ext cx="50100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npm run env:down · arrête sans effacer les volumes</a:t>
            </a:r>
            <a:endParaRPr lang="en-US" sz="1200" dirty="0"/>
          </a:p>
        </p:txBody>
      </p:sp>
      <p:sp>
        <p:nvSpPr>
          <p:cNvPr id="38" name="Shape 28"/>
          <p:cNvSpPr/>
          <p:nvPr/>
        </p:nvSpPr>
        <p:spPr>
          <a:xfrm>
            <a:off x="6172200" y="4297462"/>
            <a:ext cx="5207000" cy="718741"/>
          </a:xfrm>
          <a:prstGeom prst="roundRect">
            <a:avLst>
              <a:gd name="adj" fmla="val 10602"/>
            </a:avLst>
          </a:prstGeom>
          <a:solidFill>
            <a:srgbClr val="FBFCFE"/>
          </a:solidFill>
          <a:ln/>
        </p:spPr>
        <p:txBody>
          <a:bodyPr/>
          <a:lstStyle/>
          <a:p>
            <a:endParaRPr lang="fr-FR"/>
          </a:p>
        </p:txBody>
      </p:sp>
      <p:sp>
        <p:nvSpPr>
          <p:cNvPr id="39" name="Shape 29"/>
          <p:cNvSpPr/>
          <p:nvPr/>
        </p:nvSpPr>
        <p:spPr>
          <a:xfrm>
            <a:off x="6172200" y="4297462"/>
            <a:ext cx="5207000" cy="718741"/>
          </a:xfrm>
          <a:custGeom>
            <a:avLst/>
            <a:gdLst/>
            <a:ahLst/>
            <a:cxnLst/>
            <a:rect l="l" t="t" r="r" b="b"/>
            <a:pathLst>
              <a:path w="5207000" h="718741">
                <a:moveTo>
                  <a:pt x="76200" y="718741"/>
                </a:moveTo>
                <a:lnTo>
                  <a:pt x="76200" y="718741"/>
                </a:lnTo>
                <a:arcTo wR="76200" hR="76200" stAng="5400000" swAng="5400000"/>
                <a:lnTo>
                  <a:pt x="0" y="76200"/>
                </a:lnTo>
                <a:arcTo wR="76200" hR="76200" stAng="10800000" swAng="5400000"/>
                <a:lnTo>
                  <a:pt x="76200" y="0"/>
                </a:lnTo>
                <a:arcTo wR="38100" hR="76200" stAng="16200000" swAng="-5400000"/>
                <a:lnTo>
                  <a:pt x="38100" y="642541"/>
                </a:lnTo>
                <a:arcTo wR="38100" hR="76200" stAng="10800000" swAng="-5400000"/>
                <a:close/>
              </a:path>
            </a:pathLst>
          </a:custGeom>
          <a:solidFill>
            <a:srgbClr val="2563B8"/>
          </a:solidFill>
          <a:ln/>
        </p:spPr>
        <p:txBody>
          <a:bodyPr/>
          <a:lstStyle/>
          <a:p>
            <a:endParaRPr lang="fr-FR"/>
          </a:p>
        </p:txBody>
      </p:sp>
      <p:sp>
        <p:nvSpPr>
          <p:cNvPr id="40" name="Text 30"/>
          <p:cNvSpPr/>
          <p:nvPr/>
        </p:nvSpPr>
        <p:spPr>
          <a:xfrm>
            <a:off x="6362700" y="4424462"/>
            <a:ext cx="501002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Plan B</a:t>
            </a:r>
            <a:endParaRPr lang="en-US" sz="1400" dirty="0"/>
          </a:p>
        </p:txBody>
      </p:sp>
      <p:sp>
        <p:nvSpPr>
          <p:cNvPr id="41" name="Text 31"/>
          <p:cNvSpPr/>
          <p:nvPr/>
        </p:nvSpPr>
        <p:spPr>
          <a:xfrm>
            <a:off x="6362700" y="4675882"/>
            <a:ext cx="50100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Rapports Playwright et flakiness déjà générés</a:t>
            </a:r>
            <a:endParaRPr lang="en-US" sz="1200" dirty="0"/>
          </a:p>
        </p:txBody>
      </p:sp>
      <p:sp>
        <p:nvSpPr>
          <p:cNvPr id="42" name="Text 3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2A4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8DB8E8"/>
                </a:solidFill>
                <a:latin typeface="Courier New" pitchFamily="49" charset="0"/>
                <a:ea typeface="Courier New" pitchFamily="49" charset="-122"/>
                <a:cs typeface="Courier New" pitchFamily="49" charset="-120"/>
              </a:rPr>
              <a:t>EN RÉSUMÉ</a:t>
            </a:r>
            <a:endParaRPr lang="en-US" sz="1400" dirty="0"/>
          </a:p>
        </p:txBody>
      </p:sp>
      <p:sp>
        <p:nvSpPr>
          <p:cNvPr id="3" name="Text 1"/>
          <p:cNvSpPr>
            <a:spLocks noGrp="1"/>
          </p:cNvSpPr>
          <p:nvPr>
            <p:ph type="title"/>
          </p:nvPr>
        </p:nvSpPr>
        <p:spPr>
          <a:xfrm>
            <a:off x="3164305" y="2731790"/>
            <a:ext cx="6268454" cy="7721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4F7FB"/>
                </a:solidFill>
                <a:latin typeface="Arial" pitchFamily="34" charset="0"/>
                <a:ea typeface="Arial" pitchFamily="34" charset="-122"/>
                <a:cs typeface="Arial" pitchFamily="34" charset="-120"/>
              </a:rPr>
              <a:t>Merci</a:t>
            </a:r>
            <a:endParaRPr lang="en-US" sz="5600" dirty="0"/>
          </a:p>
        </p:txBody>
      </p:sp>
      <p:sp>
        <p:nvSpPr>
          <p:cNvPr id="4" name="Text 2"/>
          <p:cNvSpPr/>
          <p:nvPr/>
        </p:nvSpPr>
        <p:spPr>
          <a:xfrm>
            <a:off x="812800" y="3732510"/>
            <a:ext cx="1823343" cy="393700"/>
          </a:xfrm>
          <a:prstGeom prst="roundRect">
            <a:avLst>
              <a:gd name="adj" fmla="val 50000"/>
            </a:avLst>
          </a:prstGeom>
          <a:solidFill>
            <a:srgbClr val="17375C"/>
          </a:solidFill>
          <a:ln/>
        </p:spPr>
        <p:txBody>
          <a:bodyPr wrap="none" lIns="0" tIns="0" rIns="0" bIns="0" rtlCol="0" anchor="ctr">
            <a:normAutofit/>
          </a:bodyPr>
          <a:lstStyle/>
          <a:p>
            <a:pPr marL="0" indent="0" algn="ctr">
              <a:lnSpc>
                <a:spcPts val="2100"/>
              </a:lnSpc>
              <a:buNone/>
            </a:pPr>
            <a:r>
              <a:rPr lang="en-US" sz="1500" dirty="0">
                <a:solidFill>
                  <a:srgbClr val="F4F7FB"/>
                </a:solidFill>
                <a:latin typeface="Arial" pitchFamily="34" charset="0"/>
                <a:ea typeface="Arial" pitchFamily="34" charset="-122"/>
                <a:cs typeface="Arial" pitchFamily="34" charset="-120"/>
              </a:rPr>
              <a:t>16 scénarios E2E</a:t>
            </a:r>
            <a:endParaRPr lang="en-US" sz="1500" dirty="0"/>
          </a:p>
        </p:txBody>
      </p:sp>
      <p:sp>
        <p:nvSpPr>
          <p:cNvPr id="5" name="Text 3"/>
          <p:cNvSpPr/>
          <p:nvPr/>
        </p:nvSpPr>
        <p:spPr>
          <a:xfrm>
            <a:off x="2737743" y="3732510"/>
            <a:ext cx="1653977" cy="393700"/>
          </a:xfrm>
          <a:prstGeom prst="roundRect">
            <a:avLst>
              <a:gd name="adj" fmla="val 50000"/>
            </a:avLst>
          </a:prstGeom>
          <a:solidFill>
            <a:srgbClr val="17375C"/>
          </a:solidFill>
          <a:ln/>
        </p:spPr>
        <p:txBody>
          <a:bodyPr wrap="none" lIns="0" tIns="0" rIns="0" bIns="0" rtlCol="0" anchor="ctr">
            <a:normAutofit/>
          </a:bodyPr>
          <a:lstStyle/>
          <a:p>
            <a:pPr marL="0" indent="0" algn="ctr">
              <a:lnSpc>
                <a:spcPts val="2100"/>
              </a:lnSpc>
              <a:buNone/>
            </a:pPr>
            <a:r>
              <a:rPr lang="en-US" sz="1500" dirty="0">
                <a:solidFill>
                  <a:srgbClr val="F4F7FB"/>
                </a:solidFill>
                <a:latin typeface="Arial" pitchFamily="34" charset="0"/>
                <a:ea typeface="Arial" pitchFamily="34" charset="-122"/>
                <a:cs typeface="Arial" pitchFamily="34" charset="-120"/>
              </a:rPr>
              <a:t>2 tenants isolés</a:t>
            </a:r>
            <a:endParaRPr lang="en-US" sz="1500" dirty="0"/>
          </a:p>
        </p:txBody>
      </p:sp>
      <p:sp>
        <p:nvSpPr>
          <p:cNvPr id="6" name="Text 4"/>
          <p:cNvSpPr/>
          <p:nvPr/>
        </p:nvSpPr>
        <p:spPr>
          <a:xfrm>
            <a:off x="4493320" y="3732510"/>
            <a:ext cx="2024757" cy="393700"/>
          </a:xfrm>
          <a:prstGeom prst="roundRect">
            <a:avLst>
              <a:gd name="adj" fmla="val 50000"/>
            </a:avLst>
          </a:prstGeom>
          <a:solidFill>
            <a:srgbClr val="17375C"/>
          </a:solidFill>
          <a:ln/>
        </p:spPr>
        <p:txBody>
          <a:bodyPr wrap="none" lIns="0" tIns="0" rIns="0" bIns="0" rtlCol="0" anchor="ctr">
            <a:normAutofit/>
          </a:bodyPr>
          <a:lstStyle/>
          <a:p>
            <a:pPr marL="0" indent="0" algn="ctr">
              <a:lnSpc>
                <a:spcPts val="2100"/>
              </a:lnSpc>
              <a:buNone/>
            </a:pPr>
            <a:r>
              <a:rPr lang="en-US" sz="1500" dirty="0">
                <a:solidFill>
                  <a:srgbClr val="F4F7FB"/>
                </a:solidFill>
                <a:latin typeface="Arial" pitchFamily="34" charset="0"/>
                <a:ea typeface="Arial" pitchFamily="34" charset="-122"/>
                <a:cs typeface="Arial" pitchFamily="34" charset="-120"/>
              </a:rPr>
              <a:t>160/160 sur 10 runs</a:t>
            </a:r>
            <a:endParaRPr lang="en-US" sz="1500" dirty="0"/>
          </a:p>
        </p:txBody>
      </p:sp>
      <p:sp>
        <p:nvSpPr>
          <p:cNvPr id="7" name="Text 5"/>
          <p:cNvSpPr/>
          <p:nvPr/>
        </p:nvSpPr>
        <p:spPr>
          <a:xfrm>
            <a:off x="6619677" y="3732510"/>
            <a:ext cx="1982490" cy="393700"/>
          </a:xfrm>
          <a:prstGeom prst="roundRect">
            <a:avLst>
              <a:gd name="adj" fmla="val 50000"/>
            </a:avLst>
          </a:prstGeom>
          <a:solidFill>
            <a:srgbClr val="17375C"/>
          </a:solidFill>
          <a:ln/>
        </p:spPr>
        <p:txBody>
          <a:bodyPr wrap="none" lIns="0" tIns="0" rIns="0" bIns="0" rtlCol="0" anchor="ctr">
            <a:normAutofit/>
          </a:bodyPr>
          <a:lstStyle/>
          <a:p>
            <a:pPr marL="0" indent="0" algn="ctr">
              <a:lnSpc>
                <a:spcPts val="2100"/>
              </a:lnSpc>
              <a:buNone/>
            </a:pPr>
            <a:r>
              <a:rPr lang="en-US" sz="1500" dirty="0">
                <a:solidFill>
                  <a:srgbClr val="F4F7FB"/>
                </a:solidFill>
                <a:latin typeface="Arial" pitchFamily="34" charset="0"/>
                <a:ea typeface="Arial" pitchFamily="34" charset="-122"/>
                <a:cs typeface="Arial" pitchFamily="34" charset="-120"/>
              </a:rPr>
              <a:t>baseline naïve 0/10</a:t>
            </a:r>
            <a:endParaRPr lang="en-US" sz="1500" dirty="0"/>
          </a:p>
        </p:txBody>
      </p:sp>
      <p:sp>
        <p:nvSpPr>
          <p:cNvPr id="8" name="Text 6"/>
          <p:cNvSpPr/>
          <p:nvPr/>
        </p:nvSpPr>
        <p:spPr>
          <a:xfrm>
            <a:off x="8703766" y="3732510"/>
            <a:ext cx="1283395" cy="393700"/>
          </a:xfrm>
          <a:prstGeom prst="roundRect">
            <a:avLst>
              <a:gd name="adj" fmla="val 50000"/>
            </a:avLst>
          </a:prstGeom>
          <a:solidFill>
            <a:srgbClr val="17375C"/>
          </a:solidFill>
          <a:ln/>
        </p:spPr>
        <p:txBody>
          <a:bodyPr wrap="none" lIns="0" tIns="0" rIns="0" bIns="0" rtlCol="0" anchor="ctr">
            <a:normAutofit/>
          </a:bodyPr>
          <a:lstStyle/>
          <a:p>
            <a:pPr marL="0" indent="0" algn="ctr">
              <a:lnSpc>
                <a:spcPts val="2100"/>
              </a:lnSpc>
              <a:buNone/>
            </a:pPr>
            <a:r>
              <a:rPr lang="en-US" sz="1500" dirty="0">
                <a:solidFill>
                  <a:srgbClr val="F4F7FB"/>
                </a:solidFill>
                <a:latin typeface="Arial" pitchFamily="34" charset="0"/>
                <a:ea typeface="Arial" pitchFamily="34" charset="-122"/>
                <a:cs typeface="Arial" pitchFamily="34" charset="-120"/>
              </a:rPr>
              <a:t>0 € de LLM</a:t>
            </a:r>
            <a:endParaRPr lang="en-US" sz="1500" dirty="0"/>
          </a:p>
        </p:txBody>
      </p:sp>
      <p:sp>
        <p:nvSpPr>
          <p:cNvPr id="9" name="Text 7"/>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4D6EA"/>
                </a:solidFill>
                <a:latin typeface="Arial" pitchFamily="34" charset="0"/>
                <a:ea typeface="Arial" pitchFamily="34" charset="-122"/>
                <a:cs typeface="Arial" pitchFamily="34" charset="-120"/>
              </a:rPr>
              <a:t>@Will-emma &amp; @StarkMac22 · groupe-owui-qa · Open WebUI v0.11.4 · Playwright · Docker</a:t>
            </a:r>
            <a:endParaRPr lang="en-US" sz="1400" dirty="0"/>
          </a:p>
        </p:txBody>
      </p:sp>
    </p:spTree>
  </p:cSld>
  <p:clrMapOvr>
    <a:masterClrMapping/>
  </p:clrMapOvr>
</p:sld>
</file>

<file path=ppt/theme/theme1.xml><?xml version="1.0" encoding="utf-8"?>
<a:theme xmlns:a="http://schemas.openxmlformats.org/drawingml/2006/main" name="F1 — QA E2E d’Open WebUI">
  <a:themeElements>
    <a:clrScheme name="F1 — QA E2E d’Open WebUI">
      <a:dk1>
        <a:srgbClr val="0E2A47"/>
      </a:dk1>
      <a:lt1>
        <a:srgbClr val="F4F7FB"/>
      </a:lt1>
      <a:dk2>
        <a:srgbClr val="485D74"/>
      </a:dk2>
      <a:lt2>
        <a:srgbClr val="DDE3E9"/>
      </a:lt2>
      <a:accent1>
        <a:srgbClr val="2563B8"/>
      </a:accent1>
      <a:accent2>
        <a:srgbClr val="3E5068"/>
      </a:accent2>
      <a:accent3>
        <a:srgbClr val="B83A30"/>
      </a:accent3>
      <a:accent4>
        <a:srgbClr val="8DB8E8"/>
      </a:accent4>
      <a:accent5>
        <a:srgbClr val="2F63C8"/>
      </a:accent5>
      <a:accent6>
        <a:srgbClr val="A9C7F2"/>
      </a:accent6>
      <a:hlink>
        <a:srgbClr val="0563C1"/>
      </a:hlink>
      <a:folHlink>
        <a:srgbClr val="954F72"/>
      </a:folHlink>
    </a:clrScheme>
    <a:fontScheme name="F1 — QA E2E d’Open WebU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3890</Words>
  <Application>Microsoft Macintosh PowerPoint</Application>
  <PresentationFormat>Grand écran</PresentationFormat>
  <Paragraphs>307</Paragraphs>
  <Slides>15</Slides>
  <Notes>15</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15</vt:i4>
      </vt:variant>
    </vt:vector>
  </HeadingPairs>
  <TitlesOfParts>
    <vt:vector size="18" baseType="lpstr">
      <vt:lpstr>Arial</vt:lpstr>
      <vt:lpstr>Courier New</vt:lpstr>
      <vt:lpstr>F1 — QA E2E d’Open WebUI</vt:lpstr>
      <vt:lpstr>QA E2E d’Open WebUI</vt:lpstr>
      <vt:lpstr>Comment tester une application de chat LLM de façon fiable ?</vt:lpstr>
      <vt:lpstr>Deux tenants isolés, un mock LLM commun</vt:lpstr>
      <vt:lpstr>Un LLM simulé : même entrée, même réponse</vt:lpstr>
      <vt:lpstr>Cycle de vie d’un test et de ses fixtures</vt:lpstr>
      <vt:lpstr>16 scénarios répartis sur six parcours</vt:lpstr>
      <vt:lpstr>Vérifier le résultat réel, pas seulement l’affichage</vt:lpstr>
      <vt:lpstr>Pourquoi une attente fixe échoue face au streaming</vt:lpstr>
      <vt:lpstr>Des résultats mesurés, pas supposés</vt:lpstr>
      <vt:lpstr>CI préparée — activation GitHub Actions non réalisée</vt:lpstr>
      <vt:lpstr>Ce qui est fait, face aux attendus du sujet</vt:lpstr>
      <vt:lpstr>Ce que la suite ne prouve pas encore</vt:lpstr>
      <vt:lpstr>Contributions</vt:lpstr>
      <vt:lpstr>Une démo rejouable en quatre étapes</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 — QA E2E d’Open WebUI</dc:title>
  <dc:subject/>
  <dc:creator/>
  <cp:lastModifiedBy>DIBANTSA Nounga Yan Taliane</cp:lastModifiedBy>
  <cp:revision>2</cp:revision>
  <dcterms:created xsi:type="dcterms:W3CDTF">2026-10-26T22:42:00Z</dcterms:created>
  <dcterms:modified xsi:type="dcterms:W3CDTF">2026-10-26T22:44:21Z</dcterms:modified>
</cp:coreProperties>
</file>